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Arimo Bold" charset="1" panose="020B0704020202020204"/>
      <p:regular r:id="rId15"/>
    </p:embeddedFont>
    <p:embeddedFont>
      <p:font typeface="Calibri (MS) Bold" charset="1" panose="020F0702030404030204"/>
      <p:regular r:id="rId16"/>
    </p:embeddedFont>
    <p:embeddedFont>
      <p:font typeface="Calibri (MS)" charset="1" panose="020F0502020204030204"/>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https://github.com/Vajreshwari-a/Cue" TargetMode="External" Type="http://schemas.openxmlformats.org/officeDocument/2006/relationships/hyperlink"/></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058811" y="2429694"/>
            <a:ext cx="6632019" cy="8457352"/>
            <a:chOff x="0" y="0"/>
            <a:chExt cx="8842692" cy="11276470"/>
          </a:xfrm>
        </p:grpSpPr>
        <p:sp>
          <p:nvSpPr>
            <p:cNvPr name="Freeform 3" id="3"/>
            <p:cNvSpPr/>
            <p:nvPr/>
          </p:nvSpPr>
          <p:spPr>
            <a:xfrm flipH="false" flipV="false" rot="0">
              <a:off x="0" y="0"/>
              <a:ext cx="8842756" cy="11276457"/>
            </a:xfrm>
            <a:custGeom>
              <a:avLst/>
              <a:gdLst/>
              <a:ahLst/>
              <a:cxnLst/>
              <a:rect r="r" b="b" t="t" l="l"/>
              <a:pathLst>
                <a:path h="11276457" w="8842756">
                  <a:moveTo>
                    <a:pt x="0" y="0"/>
                  </a:moveTo>
                  <a:lnTo>
                    <a:pt x="8842756" y="0"/>
                  </a:lnTo>
                  <a:lnTo>
                    <a:pt x="8842756" y="11276457"/>
                  </a:lnTo>
                  <a:lnTo>
                    <a:pt x="0" y="11276457"/>
                  </a:lnTo>
                  <a:lnTo>
                    <a:pt x="0" y="0"/>
                  </a:lnTo>
                  <a:close/>
                </a:path>
              </a:pathLst>
            </a:custGeom>
            <a:blipFill>
              <a:blip r:embed="rId2"/>
              <a:stretch>
                <a:fillRect l="-121174" t="-19865" r="-122915" b="-81606"/>
              </a:stretch>
            </a:blipFill>
          </p:spPr>
        </p:sp>
      </p:grpSp>
      <p:sp>
        <p:nvSpPr>
          <p:cNvPr name="TextBox 4" id="4"/>
          <p:cNvSpPr txBox="true"/>
          <p:nvPr/>
        </p:nvSpPr>
        <p:spPr>
          <a:xfrm rot="0">
            <a:off x="91440" y="933364"/>
            <a:ext cx="3090996" cy="527771"/>
          </a:xfrm>
          <a:prstGeom prst="rect">
            <a:avLst/>
          </a:prstGeom>
        </p:spPr>
        <p:txBody>
          <a:bodyPr anchor="t" rtlCol="false" tIns="0" lIns="0" bIns="0" rIns="0">
            <a:spAutoFit/>
          </a:bodyPr>
          <a:lstStyle/>
          <a:p>
            <a:pPr algn="ctr">
              <a:lnSpc>
                <a:spcPts val="3600"/>
              </a:lnSpc>
            </a:pPr>
            <a:r>
              <a:rPr lang="en-US" sz="3000" b="true">
                <a:solidFill>
                  <a:srgbClr val="000000"/>
                </a:solidFill>
                <a:latin typeface="Arimo Bold"/>
                <a:ea typeface="Arimo Bold"/>
                <a:cs typeface="Arimo Bold"/>
                <a:sym typeface="Arimo Bold"/>
              </a:rPr>
              <a:t>CLASH OF THE</a:t>
            </a:r>
          </a:p>
        </p:txBody>
      </p:sp>
      <p:sp>
        <p:nvSpPr>
          <p:cNvPr name="TextBox 5" id="5"/>
          <p:cNvSpPr txBox="true"/>
          <p:nvPr/>
        </p:nvSpPr>
        <p:spPr>
          <a:xfrm rot="0">
            <a:off x="2832501" y="662597"/>
            <a:ext cx="2953864" cy="906628"/>
          </a:xfrm>
          <a:prstGeom prst="rect">
            <a:avLst/>
          </a:prstGeom>
        </p:spPr>
        <p:txBody>
          <a:bodyPr anchor="t" rtlCol="false" tIns="0" lIns="0" bIns="0" rIns="0">
            <a:spAutoFit/>
          </a:bodyPr>
          <a:lstStyle/>
          <a:p>
            <a:pPr algn="ctr">
              <a:lnSpc>
                <a:spcPts val="6480"/>
              </a:lnSpc>
            </a:pPr>
            <a:r>
              <a:rPr lang="en-US" sz="5400" b="true">
                <a:solidFill>
                  <a:srgbClr val="E81B25"/>
                </a:solidFill>
                <a:latin typeface="Arimo Bold"/>
                <a:ea typeface="Arimo Bold"/>
                <a:cs typeface="Arimo Bold"/>
                <a:sym typeface="Arimo Bold"/>
              </a:rPr>
              <a:t>CLAWS</a:t>
            </a:r>
          </a:p>
        </p:txBody>
      </p:sp>
      <p:sp>
        <p:nvSpPr>
          <p:cNvPr name="TextBox 6" id="6"/>
          <p:cNvSpPr txBox="true"/>
          <p:nvPr/>
        </p:nvSpPr>
        <p:spPr>
          <a:xfrm rot="0">
            <a:off x="206035" y="2391594"/>
            <a:ext cx="10542952" cy="5909754"/>
          </a:xfrm>
          <a:prstGeom prst="rect">
            <a:avLst/>
          </a:prstGeom>
        </p:spPr>
        <p:txBody>
          <a:bodyPr anchor="t" rtlCol="false" tIns="0" lIns="0" bIns="0" rIns="0">
            <a:spAutoFit/>
          </a:bodyPr>
          <a:lstStyle/>
          <a:p>
            <a:pPr algn="ctr">
              <a:lnSpc>
                <a:spcPts val="6736"/>
              </a:lnSpc>
            </a:pPr>
            <a:r>
              <a:rPr lang="en-US" sz="5613" b="true">
                <a:solidFill>
                  <a:srgbClr val="E81B25"/>
                </a:solidFill>
                <a:latin typeface="Arimo Bold"/>
                <a:ea typeface="Arimo Bold"/>
                <a:cs typeface="Arimo Bold"/>
                <a:sym typeface="Arimo Bold"/>
              </a:rPr>
              <a:t>M</a:t>
            </a:r>
            <a:r>
              <a:rPr lang="en-US" sz="5613" b="true">
                <a:solidFill>
                  <a:srgbClr val="E81B25"/>
                </a:solidFill>
                <a:latin typeface="Arimo Bold"/>
                <a:ea typeface="Arimo Bold"/>
                <a:cs typeface="Arimo Bold"/>
                <a:sym typeface="Arimo Bold"/>
              </a:rPr>
              <a:t> S Ramaiah Institute of Technology_XYZz</a:t>
            </a:r>
          </a:p>
          <a:p>
            <a:pPr algn="ctr">
              <a:lnSpc>
                <a:spcPts val="6362"/>
              </a:lnSpc>
            </a:pPr>
            <a:r>
              <a:rPr lang="en-US" sz="5301" b="true">
                <a:solidFill>
                  <a:srgbClr val="000000"/>
                </a:solidFill>
                <a:latin typeface="Arimo Bold"/>
                <a:ea typeface="Arimo Bold"/>
                <a:cs typeface="Arimo Bold"/>
                <a:sym typeface="Arimo Bold"/>
              </a:rPr>
              <a:t>Cue – your studdy buddy, straight from whatsapp </a:t>
            </a:r>
            <a:r>
              <a:rPr lang="en-US" sz="5301" b="true">
                <a:solidFill>
                  <a:srgbClr val="E81B25"/>
                </a:solidFill>
                <a:latin typeface="Arimo Bold"/>
                <a:ea typeface="Arimo Bold"/>
                <a:cs typeface="Arimo Bold"/>
                <a:sym typeface="Arimo Bold"/>
              </a:rPr>
              <a:t> </a:t>
            </a:r>
          </a:p>
          <a:p>
            <a:pPr algn="ctr">
              <a:lnSpc>
                <a:spcPts val="7484"/>
              </a:lnSpc>
            </a:pPr>
          </a:p>
          <a:p>
            <a:pPr algn="ctr">
              <a:lnSpc>
                <a:spcPts val="5239"/>
              </a:lnSpc>
            </a:pPr>
            <a:r>
              <a:rPr lang="en-US" sz="4366" b="true">
                <a:solidFill>
                  <a:srgbClr val="44546A"/>
                </a:solidFill>
                <a:latin typeface="Arimo Bold"/>
                <a:ea typeface="Arimo Bold"/>
                <a:cs typeface="Arimo Bold"/>
                <a:sym typeface="Arimo Bold"/>
              </a:rPr>
              <a:t>Vajreshwari, Shreya maran</a:t>
            </a:r>
          </a:p>
          <a:p>
            <a:pPr algn="ctr">
              <a:lnSpc>
                <a:spcPts val="7484"/>
              </a:lnSpc>
            </a:pPr>
          </a:p>
        </p:txBody>
      </p:sp>
      <p:grpSp>
        <p:nvGrpSpPr>
          <p:cNvPr name="Group 7" id="7"/>
          <p:cNvGrpSpPr/>
          <p:nvPr/>
        </p:nvGrpSpPr>
        <p:grpSpPr>
          <a:xfrm rot="0">
            <a:off x="206035" y="70123"/>
            <a:ext cx="1461592" cy="958567"/>
            <a:chOff x="0" y="0"/>
            <a:chExt cx="1948790" cy="1278090"/>
          </a:xfrm>
        </p:grpSpPr>
        <p:sp>
          <p:nvSpPr>
            <p:cNvPr name="Freeform 8" id="8"/>
            <p:cNvSpPr/>
            <p:nvPr/>
          </p:nvSpPr>
          <p:spPr>
            <a:xfrm flipH="false" flipV="false" rot="0">
              <a:off x="0" y="0"/>
              <a:ext cx="1948815" cy="1278128"/>
            </a:xfrm>
            <a:custGeom>
              <a:avLst/>
              <a:gdLst/>
              <a:ahLst/>
              <a:cxnLst/>
              <a:rect r="r" b="b" t="t" l="l"/>
              <a:pathLst>
                <a:path h="1278128" w="1948815">
                  <a:moveTo>
                    <a:pt x="0" y="0"/>
                  </a:moveTo>
                  <a:lnTo>
                    <a:pt x="1948815" y="0"/>
                  </a:lnTo>
                  <a:lnTo>
                    <a:pt x="1948815" y="1278128"/>
                  </a:lnTo>
                  <a:lnTo>
                    <a:pt x="0" y="1278128"/>
                  </a:lnTo>
                  <a:lnTo>
                    <a:pt x="0" y="0"/>
                  </a:lnTo>
                  <a:close/>
                </a:path>
              </a:pathLst>
            </a:custGeom>
            <a:blipFill>
              <a:blip r:embed="rId3"/>
              <a:stretch>
                <a:fillRect l="0" t="-109" r="1" b="-107"/>
              </a:stretch>
            </a:blipFill>
          </p:spPr>
        </p:sp>
      </p:grpSp>
      <p:sp>
        <p:nvSpPr>
          <p:cNvPr name="TextBox 9" id="9"/>
          <p:cNvSpPr txBox="true"/>
          <p:nvPr/>
        </p:nvSpPr>
        <p:spPr>
          <a:xfrm rot="0">
            <a:off x="1618164" y="262547"/>
            <a:ext cx="4708547" cy="428625"/>
          </a:xfrm>
          <a:prstGeom prst="rect">
            <a:avLst/>
          </a:prstGeom>
        </p:spPr>
        <p:txBody>
          <a:bodyPr anchor="t" rtlCol="false" tIns="0" lIns="0" bIns="0" rIns="0">
            <a:spAutoFit/>
          </a:bodyPr>
          <a:lstStyle/>
          <a:p>
            <a:pPr algn="ctr">
              <a:lnSpc>
                <a:spcPts val="3240"/>
              </a:lnSpc>
            </a:pPr>
            <a:r>
              <a:rPr lang="en-US" sz="2700" b="true">
                <a:solidFill>
                  <a:srgbClr val="000000"/>
                </a:solidFill>
                <a:latin typeface="Arimo Bold"/>
                <a:ea typeface="Arimo Bold"/>
                <a:cs typeface="Arimo Bold"/>
                <a:sym typeface="Arimo Bold"/>
              </a:rPr>
              <a:t>| Tech Management, SRI-B</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525" y="-9525"/>
            <a:ext cx="18307050" cy="147066"/>
            <a:chOff x="0" y="0"/>
            <a:chExt cx="24409400" cy="196088"/>
          </a:xfrm>
        </p:grpSpPr>
        <p:sp>
          <p:nvSpPr>
            <p:cNvPr name="Freeform 3" id="3"/>
            <p:cNvSpPr/>
            <p:nvPr/>
          </p:nvSpPr>
          <p:spPr>
            <a:xfrm flipH="false" flipV="false" rot="0">
              <a:off x="0" y="0"/>
              <a:ext cx="24409400" cy="196088"/>
            </a:xfrm>
            <a:custGeom>
              <a:avLst/>
              <a:gdLst/>
              <a:ahLst/>
              <a:cxnLst/>
              <a:rect r="r" b="b" t="t" l="l"/>
              <a:pathLst>
                <a:path h="196088" w="24409400">
                  <a:moveTo>
                    <a:pt x="0" y="0"/>
                  </a:moveTo>
                  <a:lnTo>
                    <a:pt x="24409400" y="0"/>
                  </a:lnTo>
                  <a:lnTo>
                    <a:pt x="24409400" y="196088"/>
                  </a:lnTo>
                  <a:lnTo>
                    <a:pt x="0" y="196088"/>
                  </a:lnTo>
                  <a:close/>
                </a:path>
              </a:pathLst>
            </a:custGeom>
            <a:solidFill>
              <a:srgbClr val="00B4D8"/>
            </a:solidFill>
            <a:ln w="19050" cap="sq">
              <a:solidFill>
                <a:srgbClr val="00B4D8"/>
              </a:solidFill>
              <a:prstDash val="solid"/>
              <a:miter/>
            </a:ln>
          </p:spPr>
        </p:sp>
      </p:grpSp>
      <p:grpSp>
        <p:nvGrpSpPr>
          <p:cNvPr name="Group 4" id="4"/>
          <p:cNvGrpSpPr/>
          <p:nvPr/>
        </p:nvGrpSpPr>
        <p:grpSpPr>
          <a:xfrm rot="0">
            <a:off x="904875" y="319659"/>
            <a:ext cx="2945130" cy="531114"/>
            <a:chOff x="0" y="0"/>
            <a:chExt cx="3926840" cy="708152"/>
          </a:xfrm>
        </p:grpSpPr>
        <p:sp>
          <p:nvSpPr>
            <p:cNvPr name="Freeform 5" id="5"/>
            <p:cNvSpPr/>
            <p:nvPr/>
          </p:nvSpPr>
          <p:spPr>
            <a:xfrm flipH="false" flipV="false" rot="0">
              <a:off x="0" y="0"/>
              <a:ext cx="3926840" cy="708152"/>
            </a:xfrm>
            <a:custGeom>
              <a:avLst/>
              <a:gdLst/>
              <a:ahLst/>
              <a:cxnLst/>
              <a:rect r="r" b="b" t="t" l="l"/>
              <a:pathLst>
                <a:path h="708152" w="3926840">
                  <a:moveTo>
                    <a:pt x="0" y="0"/>
                  </a:moveTo>
                  <a:lnTo>
                    <a:pt x="3926840" y="0"/>
                  </a:lnTo>
                  <a:lnTo>
                    <a:pt x="3926840" y="708152"/>
                  </a:lnTo>
                  <a:lnTo>
                    <a:pt x="0" y="708152"/>
                  </a:lnTo>
                  <a:close/>
                </a:path>
              </a:pathLst>
            </a:custGeom>
            <a:solidFill>
              <a:srgbClr val="0077A8"/>
            </a:solidFill>
            <a:ln w="19050" cap="sq">
              <a:solidFill>
                <a:srgbClr val="0077A8"/>
              </a:solidFill>
              <a:prstDash val="solid"/>
              <a:miter/>
            </a:ln>
          </p:spPr>
        </p:sp>
      </p:grpSp>
      <p:grpSp>
        <p:nvGrpSpPr>
          <p:cNvPr name="Group 6" id="6"/>
          <p:cNvGrpSpPr/>
          <p:nvPr/>
        </p:nvGrpSpPr>
        <p:grpSpPr>
          <a:xfrm rot="0">
            <a:off x="914400" y="329184"/>
            <a:ext cx="2926080" cy="512064"/>
            <a:chOff x="0" y="0"/>
            <a:chExt cx="3901440" cy="682752"/>
          </a:xfrm>
        </p:grpSpPr>
        <p:sp>
          <p:nvSpPr>
            <p:cNvPr name="Freeform 7" id="7"/>
            <p:cNvSpPr/>
            <p:nvPr/>
          </p:nvSpPr>
          <p:spPr>
            <a:xfrm flipH="false" flipV="false" rot="0">
              <a:off x="0" y="0"/>
              <a:ext cx="3901440" cy="682752"/>
            </a:xfrm>
            <a:custGeom>
              <a:avLst/>
              <a:gdLst/>
              <a:ahLst/>
              <a:cxnLst/>
              <a:rect r="r" b="b" t="t" l="l"/>
              <a:pathLst>
                <a:path h="682752" w="3901440">
                  <a:moveTo>
                    <a:pt x="0" y="0"/>
                  </a:moveTo>
                  <a:lnTo>
                    <a:pt x="3901440" y="0"/>
                  </a:lnTo>
                  <a:lnTo>
                    <a:pt x="3901440" y="682752"/>
                  </a:lnTo>
                  <a:lnTo>
                    <a:pt x="0" y="682752"/>
                  </a:lnTo>
                  <a:close/>
                </a:path>
              </a:pathLst>
            </a:custGeom>
            <a:blipFill>
              <a:blip r:embed="rId2">
                <a:alphaModFix amt="0"/>
              </a:blip>
              <a:stretch>
                <a:fillRect l="0" t="-61343" r="0" b="-61343"/>
              </a:stretch>
            </a:blipFill>
          </p:spPr>
        </p:sp>
        <p:sp>
          <p:nvSpPr>
            <p:cNvPr name="TextBox 8" id="8"/>
            <p:cNvSpPr txBox="true"/>
            <p:nvPr/>
          </p:nvSpPr>
          <p:spPr>
            <a:xfrm>
              <a:off x="0" y="-38100"/>
              <a:ext cx="3901440" cy="720852"/>
            </a:xfrm>
            <a:prstGeom prst="rect">
              <a:avLst/>
            </a:prstGeom>
          </p:spPr>
          <p:txBody>
            <a:bodyPr anchor="ctr" rtlCol="false" tIns="0" lIns="0" bIns="0" rIns="0"/>
            <a:lstStyle/>
            <a:p>
              <a:pPr algn="ctr">
                <a:lnSpc>
                  <a:spcPts val="1800"/>
                </a:lnSpc>
              </a:pPr>
              <a:r>
                <a:rPr lang="en-US" sz="1500" b="true">
                  <a:solidFill>
                    <a:srgbClr val="FFFFFF"/>
                  </a:solidFill>
                  <a:latin typeface="Calibri (MS) Bold"/>
                  <a:ea typeface="Calibri (MS) Bold"/>
                  <a:cs typeface="Calibri (MS) Bold"/>
                  <a:sym typeface="Calibri (MS) Bold"/>
                </a:rPr>
                <a:t>Idea</a:t>
              </a:r>
            </a:p>
          </p:txBody>
        </p:sp>
      </p:grpSp>
      <p:grpSp>
        <p:nvGrpSpPr>
          <p:cNvPr name="Group 9" id="9"/>
          <p:cNvGrpSpPr/>
          <p:nvPr/>
        </p:nvGrpSpPr>
        <p:grpSpPr>
          <a:xfrm rot="0">
            <a:off x="914400" y="1005840"/>
            <a:ext cx="16459200" cy="1287090"/>
            <a:chOff x="0" y="0"/>
            <a:chExt cx="21945600" cy="1716120"/>
          </a:xfrm>
        </p:grpSpPr>
        <p:sp>
          <p:nvSpPr>
            <p:cNvPr name="Freeform 10" id="10"/>
            <p:cNvSpPr/>
            <p:nvPr/>
          </p:nvSpPr>
          <p:spPr>
            <a:xfrm flipH="false" flipV="false" rot="0">
              <a:off x="0" y="0"/>
              <a:ext cx="21945600" cy="1716120"/>
            </a:xfrm>
            <a:custGeom>
              <a:avLst/>
              <a:gdLst/>
              <a:ahLst/>
              <a:cxnLst/>
              <a:rect r="r" b="b" t="t" l="l"/>
              <a:pathLst>
                <a:path h="1716120" w="21945600">
                  <a:moveTo>
                    <a:pt x="0" y="0"/>
                  </a:moveTo>
                  <a:lnTo>
                    <a:pt x="21945600" y="0"/>
                  </a:lnTo>
                  <a:lnTo>
                    <a:pt x="21945600" y="1716120"/>
                  </a:lnTo>
                  <a:lnTo>
                    <a:pt x="0" y="1716120"/>
                  </a:lnTo>
                  <a:close/>
                </a:path>
              </a:pathLst>
            </a:custGeom>
            <a:blipFill>
              <a:blip r:embed="rId2">
                <a:alphaModFix amt="0"/>
              </a:blip>
              <a:stretch>
                <a:fillRect l="0" t="-199442" r="0" b="-198903"/>
              </a:stretch>
            </a:blipFill>
          </p:spPr>
        </p:sp>
        <p:sp>
          <p:nvSpPr>
            <p:cNvPr name="TextBox 11" id="11"/>
            <p:cNvSpPr txBox="true"/>
            <p:nvPr/>
          </p:nvSpPr>
          <p:spPr>
            <a:xfrm>
              <a:off x="0" y="-123825"/>
              <a:ext cx="21945600" cy="1839945"/>
            </a:xfrm>
            <a:prstGeom prst="rect">
              <a:avLst/>
            </a:prstGeom>
          </p:spPr>
          <p:txBody>
            <a:bodyPr anchor="ctr" rtlCol="false" tIns="0" lIns="0" bIns="0" rIns="0"/>
            <a:lstStyle/>
            <a:p>
              <a:pPr algn="l">
                <a:lnSpc>
                  <a:spcPts val="7680"/>
                </a:lnSpc>
              </a:pPr>
              <a:r>
                <a:rPr lang="en-US" sz="6400" b="true">
                  <a:solidFill>
                    <a:srgbClr val="000000"/>
                  </a:solidFill>
                  <a:latin typeface="Calibri (MS) Bold"/>
                  <a:ea typeface="Calibri (MS) Bold"/>
                  <a:cs typeface="Calibri (MS) Bold"/>
                  <a:sym typeface="Calibri (MS) Bold"/>
                </a:rPr>
                <a:t>The </a:t>
              </a:r>
              <a:r>
                <a:rPr lang="en-US" sz="6400" b="true">
                  <a:solidFill>
                    <a:srgbClr val="000000"/>
                  </a:solidFill>
                  <a:latin typeface="Calibri (MS) Bold"/>
                  <a:ea typeface="Calibri (MS) Bold"/>
                  <a:cs typeface="Calibri (MS) Bold"/>
                  <a:sym typeface="Calibri (MS) Bold"/>
                </a:rPr>
                <a:t>Problem</a:t>
              </a:r>
            </a:p>
          </p:txBody>
        </p:sp>
      </p:grpSp>
      <p:sp>
        <p:nvSpPr>
          <p:cNvPr name="TextBox 12" id="12"/>
          <p:cNvSpPr txBox="true"/>
          <p:nvPr/>
        </p:nvSpPr>
        <p:spPr>
          <a:xfrm rot="0">
            <a:off x="904875" y="2207205"/>
            <a:ext cx="16354425" cy="7096125"/>
          </a:xfrm>
          <a:prstGeom prst="rect">
            <a:avLst/>
          </a:prstGeom>
        </p:spPr>
        <p:txBody>
          <a:bodyPr anchor="t" rtlCol="false" tIns="0" lIns="0" bIns="0" rIns="0">
            <a:spAutoFit/>
          </a:bodyPr>
          <a:lstStyle/>
          <a:p>
            <a:pPr algn="l">
              <a:lnSpc>
                <a:spcPts val="4799"/>
              </a:lnSpc>
            </a:pPr>
            <a:r>
              <a:rPr lang="en-US" sz="3999">
                <a:solidFill>
                  <a:srgbClr val="000000"/>
                </a:solidFill>
                <a:latin typeface="Calibri (MS)"/>
                <a:ea typeface="Calibri (MS)"/>
                <a:cs typeface="Calibri (MS)"/>
                <a:sym typeface="Calibri (MS)"/>
              </a:rPr>
              <a:t>Most students don't fail because t</a:t>
            </a:r>
            <a:r>
              <a:rPr lang="en-US" sz="3999">
                <a:solidFill>
                  <a:srgbClr val="000000"/>
                </a:solidFill>
                <a:latin typeface="Calibri (MS)"/>
                <a:ea typeface="Calibri (MS)"/>
                <a:cs typeface="Calibri (MS)"/>
                <a:sym typeface="Calibri (MS)"/>
              </a:rPr>
              <a:t>hey're lazy. They fail because life gets in the way — and by the time they realize they're behind, it's the night before the exam. Cue is built for exactly that student. The one who means to study but keeps pushing it. The one who pulls all-nighters not by choice, but because nothing warned them early enough.</a:t>
            </a:r>
          </a:p>
          <a:p>
            <a:pPr algn="l">
              <a:lnSpc>
                <a:spcPts val="4799"/>
              </a:lnSpc>
            </a:pPr>
          </a:p>
          <a:p>
            <a:pPr algn="l" marL="863593" indent="-431796" lvl="1">
              <a:lnSpc>
                <a:spcPts val="4799"/>
              </a:lnSpc>
              <a:buFont typeface="Arial"/>
              <a:buChar char="•"/>
            </a:pPr>
            <a:r>
              <a:rPr lang="en-US" sz="3999">
                <a:solidFill>
                  <a:srgbClr val="000000"/>
                </a:solidFill>
                <a:latin typeface="Calibri (MS)"/>
                <a:ea typeface="Calibri (MS)"/>
                <a:cs typeface="Calibri (MS)"/>
                <a:sym typeface="Calibri (MS)"/>
              </a:rPr>
              <a:t>Nobody reminds them to study until it's too late</a:t>
            </a:r>
          </a:p>
          <a:p>
            <a:pPr algn="l" marL="863593" indent="-431796" lvl="1">
              <a:lnSpc>
                <a:spcPts val="4799"/>
              </a:lnSpc>
              <a:buFont typeface="Arial"/>
              <a:buChar char="•"/>
            </a:pPr>
            <a:r>
              <a:rPr lang="en-US" sz="3999">
                <a:solidFill>
                  <a:srgbClr val="000000"/>
                </a:solidFill>
                <a:latin typeface="Calibri (MS)"/>
                <a:ea typeface="Calibri (MS)"/>
                <a:cs typeface="Calibri (MS)"/>
                <a:sym typeface="Calibri (MS)"/>
              </a:rPr>
              <a:t>Study material is scattered across PDFs, drives, and notes</a:t>
            </a:r>
          </a:p>
          <a:p>
            <a:pPr algn="l" marL="863593" indent="-431796" lvl="1">
              <a:lnSpc>
                <a:spcPts val="4799"/>
              </a:lnSpc>
              <a:buFont typeface="Arial"/>
              <a:buChar char="•"/>
            </a:pPr>
            <a:r>
              <a:rPr lang="en-US" sz="3999">
                <a:solidFill>
                  <a:srgbClr val="000000"/>
                </a:solidFill>
                <a:latin typeface="Calibri (MS)"/>
                <a:ea typeface="Calibri (MS)"/>
                <a:cs typeface="Calibri (MS)"/>
                <a:sym typeface="Calibri (MS)"/>
              </a:rPr>
              <a:t>Generic apps don't understand their schedule, their syllabus, their bad days</a:t>
            </a:r>
          </a:p>
          <a:p>
            <a:pPr algn="l" marL="863593" indent="-431796" lvl="1">
              <a:lnSpc>
                <a:spcPts val="4799"/>
              </a:lnSpc>
              <a:buFont typeface="Arial"/>
              <a:buChar char="•"/>
            </a:pPr>
            <a:r>
              <a:rPr lang="en-US" sz="3999">
                <a:solidFill>
                  <a:srgbClr val="000000"/>
                </a:solidFill>
                <a:latin typeface="Calibri (MS)"/>
                <a:ea typeface="Calibri (MS)"/>
                <a:cs typeface="Calibri (MS)"/>
                <a:sym typeface="Calibri (MS)"/>
              </a:rPr>
              <a:t>Every tool requires opening an app, logging in, navigating a dashboard</a:t>
            </a:r>
          </a:p>
          <a:p>
            <a:pPr algn="l">
              <a:lnSpc>
                <a:spcPts val="3240"/>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525" y="-9525"/>
            <a:ext cx="18307050" cy="147066"/>
            <a:chOff x="0" y="0"/>
            <a:chExt cx="24409400" cy="196088"/>
          </a:xfrm>
        </p:grpSpPr>
        <p:sp>
          <p:nvSpPr>
            <p:cNvPr name="Freeform 3" id="3"/>
            <p:cNvSpPr/>
            <p:nvPr/>
          </p:nvSpPr>
          <p:spPr>
            <a:xfrm flipH="false" flipV="false" rot="0">
              <a:off x="0" y="0"/>
              <a:ext cx="24409400" cy="196088"/>
            </a:xfrm>
            <a:custGeom>
              <a:avLst/>
              <a:gdLst/>
              <a:ahLst/>
              <a:cxnLst/>
              <a:rect r="r" b="b" t="t" l="l"/>
              <a:pathLst>
                <a:path h="196088" w="24409400">
                  <a:moveTo>
                    <a:pt x="0" y="0"/>
                  </a:moveTo>
                  <a:lnTo>
                    <a:pt x="24409400" y="0"/>
                  </a:lnTo>
                  <a:lnTo>
                    <a:pt x="24409400" y="196088"/>
                  </a:lnTo>
                  <a:lnTo>
                    <a:pt x="0" y="196088"/>
                  </a:lnTo>
                  <a:close/>
                </a:path>
              </a:pathLst>
            </a:custGeom>
            <a:solidFill>
              <a:srgbClr val="00B4D8"/>
            </a:solidFill>
            <a:ln w="19050" cap="sq">
              <a:solidFill>
                <a:srgbClr val="00B4D8"/>
              </a:solidFill>
              <a:prstDash val="solid"/>
              <a:miter/>
            </a:ln>
          </p:spPr>
        </p:sp>
      </p:grpSp>
      <p:grpSp>
        <p:nvGrpSpPr>
          <p:cNvPr name="Group 4" id="4"/>
          <p:cNvGrpSpPr/>
          <p:nvPr/>
        </p:nvGrpSpPr>
        <p:grpSpPr>
          <a:xfrm rot="0">
            <a:off x="904875" y="319659"/>
            <a:ext cx="2945130" cy="531114"/>
            <a:chOff x="0" y="0"/>
            <a:chExt cx="3926840" cy="708152"/>
          </a:xfrm>
        </p:grpSpPr>
        <p:sp>
          <p:nvSpPr>
            <p:cNvPr name="Freeform 5" id="5"/>
            <p:cNvSpPr/>
            <p:nvPr/>
          </p:nvSpPr>
          <p:spPr>
            <a:xfrm flipH="false" flipV="false" rot="0">
              <a:off x="0" y="0"/>
              <a:ext cx="3926840" cy="708152"/>
            </a:xfrm>
            <a:custGeom>
              <a:avLst/>
              <a:gdLst/>
              <a:ahLst/>
              <a:cxnLst/>
              <a:rect r="r" b="b" t="t" l="l"/>
              <a:pathLst>
                <a:path h="708152" w="3926840">
                  <a:moveTo>
                    <a:pt x="0" y="0"/>
                  </a:moveTo>
                  <a:lnTo>
                    <a:pt x="3926840" y="0"/>
                  </a:lnTo>
                  <a:lnTo>
                    <a:pt x="3926840" y="708152"/>
                  </a:lnTo>
                  <a:lnTo>
                    <a:pt x="0" y="708152"/>
                  </a:lnTo>
                  <a:close/>
                </a:path>
              </a:pathLst>
            </a:custGeom>
            <a:solidFill>
              <a:srgbClr val="0077A8"/>
            </a:solidFill>
            <a:ln w="19050" cap="sq">
              <a:solidFill>
                <a:srgbClr val="0077A8"/>
              </a:solidFill>
              <a:prstDash val="solid"/>
              <a:miter/>
            </a:ln>
          </p:spPr>
        </p:sp>
      </p:grpSp>
      <p:grpSp>
        <p:nvGrpSpPr>
          <p:cNvPr name="Group 6" id="6"/>
          <p:cNvGrpSpPr/>
          <p:nvPr/>
        </p:nvGrpSpPr>
        <p:grpSpPr>
          <a:xfrm rot="0">
            <a:off x="914400" y="329184"/>
            <a:ext cx="2926080" cy="512064"/>
            <a:chOff x="0" y="0"/>
            <a:chExt cx="3901440" cy="682752"/>
          </a:xfrm>
        </p:grpSpPr>
        <p:sp>
          <p:nvSpPr>
            <p:cNvPr name="Freeform 7" id="7"/>
            <p:cNvSpPr/>
            <p:nvPr/>
          </p:nvSpPr>
          <p:spPr>
            <a:xfrm flipH="false" flipV="false" rot="0">
              <a:off x="0" y="0"/>
              <a:ext cx="3901440" cy="682752"/>
            </a:xfrm>
            <a:custGeom>
              <a:avLst/>
              <a:gdLst/>
              <a:ahLst/>
              <a:cxnLst/>
              <a:rect r="r" b="b" t="t" l="l"/>
              <a:pathLst>
                <a:path h="682752" w="3901440">
                  <a:moveTo>
                    <a:pt x="0" y="0"/>
                  </a:moveTo>
                  <a:lnTo>
                    <a:pt x="3901440" y="0"/>
                  </a:lnTo>
                  <a:lnTo>
                    <a:pt x="3901440" y="682752"/>
                  </a:lnTo>
                  <a:lnTo>
                    <a:pt x="0" y="682752"/>
                  </a:lnTo>
                  <a:close/>
                </a:path>
              </a:pathLst>
            </a:custGeom>
            <a:blipFill>
              <a:blip r:embed="rId2">
                <a:alphaModFix amt="0"/>
              </a:blip>
              <a:stretch>
                <a:fillRect l="0" t="-61343" r="0" b="-61343"/>
              </a:stretch>
            </a:blipFill>
          </p:spPr>
        </p:sp>
        <p:sp>
          <p:nvSpPr>
            <p:cNvPr name="TextBox 8" id="8"/>
            <p:cNvSpPr txBox="true"/>
            <p:nvPr/>
          </p:nvSpPr>
          <p:spPr>
            <a:xfrm>
              <a:off x="0" y="-38100"/>
              <a:ext cx="3901440" cy="720852"/>
            </a:xfrm>
            <a:prstGeom prst="rect">
              <a:avLst/>
            </a:prstGeom>
          </p:spPr>
          <p:txBody>
            <a:bodyPr anchor="ctr" rtlCol="false" tIns="0" lIns="0" bIns="0" rIns="0"/>
            <a:lstStyle/>
            <a:p>
              <a:pPr algn="ctr">
                <a:lnSpc>
                  <a:spcPts val="1800"/>
                </a:lnSpc>
              </a:pPr>
              <a:r>
                <a:rPr lang="en-US" sz="1500" b="true">
                  <a:solidFill>
                    <a:srgbClr val="FFFFFF"/>
                  </a:solidFill>
                  <a:latin typeface="Calibri (MS) Bold"/>
                  <a:ea typeface="Calibri (MS) Bold"/>
                  <a:cs typeface="Calibri (MS) Bold"/>
                  <a:sym typeface="Calibri (MS) Bold"/>
                </a:rPr>
                <a:t>Idea</a:t>
              </a:r>
            </a:p>
          </p:txBody>
        </p:sp>
      </p:grpSp>
      <p:grpSp>
        <p:nvGrpSpPr>
          <p:cNvPr name="Group 9" id="9"/>
          <p:cNvGrpSpPr/>
          <p:nvPr/>
        </p:nvGrpSpPr>
        <p:grpSpPr>
          <a:xfrm rot="0">
            <a:off x="914400" y="1005840"/>
            <a:ext cx="16459200" cy="1287090"/>
            <a:chOff x="0" y="0"/>
            <a:chExt cx="21945600" cy="1716120"/>
          </a:xfrm>
        </p:grpSpPr>
        <p:sp>
          <p:nvSpPr>
            <p:cNvPr name="Freeform 10" id="10"/>
            <p:cNvSpPr/>
            <p:nvPr/>
          </p:nvSpPr>
          <p:spPr>
            <a:xfrm flipH="false" flipV="false" rot="0">
              <a:off x="0" y="0"/>
              <a:ext cx="21945600" cy="1716120"/>
            </a:xfrm>
            <a:custGeom>
              <a:avLst/>
              <a:gdLst/>
              <a:ahLst/>
              <a:cxnLst/>
              <a:rect r="r" b="b" t="t" l="l"/>
              <a:pathLst>
                <a:path h="1716120" w="21945600">
                  <a:moveTo>
                    <a:pt x="0" y="0"/>
                  </a:moveTo>
                  <a:lnTo>
                    <a:pt x="21945600" y="0"/>
                  </a:lnTo>
                  <a:lnTo>
                    <a:pt x="21945600" y="1716120"/>
                  </a:lnTo>
                  <a:lnTo>
                    <a:pt x="0" y="1716120"/>
                  </a:lnTo>
                  <a:close/>
                </a:path>
              </a:pathLst>
            </a:custGeom>
            <a:blipFill>
              <a:blip r:embed="rId2">
                <a:alphaModFix amt="0"/>
              </a:blip>
              <a:stretch>
                <a:fillRect l="0" t="-199442" r="0" b="-198903"/>
              </a:stretch>
            </a:blipFill>
          </p:spPr>
        </p:sp>
        <p:sp>
          <p:nvSpPr>
            <p:cNvPr name="TextBox 11" id="11"/>
            <p:cNvSpPr txBox="true"/>
            <p:nvPr/>
          </p:nvSpPr>
          <p:spPr>
            <a:xfrm>
              <a:off x="0" y="-123825"/>
              <a:ext cx="21945600" cy="1839945"/>
            </a:xfrm>
            <a:prstGeom prst="rect">
              <a:avLst/>
            </a:prstGeom>
          </p:spPr>
          <p:txBody>
            <a:bodyPr anchor="ctr" rtlCol="false" tIns="0" lIns="0" bIns="0" rIns="0"/>
            <a:lstStyle/>
            <a:p>
              <a:pPr algn="l">
                <a:lnSpc>
                  <a:spcPts val="7680"/>
                </a:lnSpc>
              </a:pPr>
              <a:r>
                <a:rPr lang="en-US" sz="6400" b="true">
                  <a:solidFill>
                    <a:srgbClr val="000000"/>
                  </a:solidFill>
                  <a:latin typeface="Calibri (MS) Bold"/>
                  <a:ea typeface="Calibri (MS) Bold"/>
                  <a:cs typeface="Calibri (MS) Bold"/>
                  <a:sym typeface="Calibri (MS) Bold"/>
                </a:rPr>
                <a:t>Current Solution &amp; Gaps</a:t>
              </a:r>
            </a:p>
          </p:txBody>
        </p:sp>
      </p:grpSp>
      <p:sp>
        <p:nvSpPr>
          <p:cNvPr name="TextBox 12" id="12"/>
          <p:cNvSpPr txBox="true"/>
          <p:nvPr/>
        </p:nvSpPr>
        <p:spPr>
          <a:xfrm rot="0">
            <a:off x="904875" y="2047875"/>
            <a:ext cx="16230600" cy="8239125"/>
          </a:xfrm>
          <a:prstGeom prst="rect">
            <a:avLst/>
          </a:prstGeom>
        </p:spPr>
        <p:txBody>
          <a:bodyPr anchor="t" rtlCol="false" tIns="0" lIns="0" bIns="0" rIns="0">
            <a:spAutoFit/>
          </a:bodyPr>
          <a:lstStyle/>
          <a:p>
            <a:pPr algn="l">
              <a:lnSpc>
                <a:spcPts val="3825"/>
              </a:lnSpc>
            </a:pPr>
            <a:r>
              <a:rPr lang="en-US" sz="3188">
                <a:solidFill>
                  <a:srgbClr val="000000"/>
                </a:solidFill>
                <a:latin typeface="Calibri (MS)"/>
                <a:ea typeface="Calibri (MS)"/>
                <a:cs typeface="Calibri (MS)"/>
                <a:sym typeface="Calibri (MS)"/>
              </a:rPr>
              <a:t>Existing Solutions</a:t>
            </a:r>
          </a:p>
          <a:p>
            <a:pPr algn="l">
              <a:lnSpc>
                <a:spcPts val="3825"/>
              </a:lnSpc>
            </a:pPr>
            <a:r>
              <a:rPr lang="en-US" sz="3188">
                <a:solidFill>
                  <a:srgbClr val="000000"/>
                </a:solidFill>
                <a:latin typeface="Calibri (MS)"/>
                <a:ea typeface="Calibri (MS)"/>
                <a:cs typeface="Calibri (MS)"/>
                <a:sym typeface="Calibri (MS)"/>
              </a:rPr>
              <a:t>• ChatGPT/Gemini require users to open apps manually</a:t>
            </a:r>
          </a:p>
          <a:p>
            <a:pPr algn="l">
              <a:lnSpc>
                <a:spcPts val="3825"/>
              </a:lnSpc>
            </a:pPr>
            <a:r>
              <a:rPr lang="en-US" sz="3188">
                <a:solidFill>
                  <a:srgbClr val="000000"/>
                </a:solidFill>
                <a:latin typeface="Calibri (MS)"/>
                <a:ea typeface="Calibri (MS)"/>
                <a:cs typeface="Calibri (MS)"/>
                <a:sym typeface="Calibri (MS)"/>
              </a:rPr>
              <a:t>• Productivity tools are fragmented across platforms</a:t>
            </a:r>
          </a:p>
          <a:p>
            <a:pPr algn="l">
              <a:lnSpc>
                <a:spcPts val="3825"/>
              </a:lnSpc>
            </a:pPr>
            <a:r>
              <a:rPr lang="en-US" sz="3188">
                <a:solidFill>
                  <a:srgbClr val="000000"/>
                </a:solidFill>
                <a:latin typeface="Calibri (MS)"/>
                <a:ea typeface="Calibri (MS)"/>
                <a:cs typeface="Calibri (MS)"/>
                <a:sym typeface="Calibri (MS)"/>
              </a:rPr>
              <a:t>• Reminder/calendar apps need constant manual input</a:t>
            </a:r>
          </a:p>
          <a:p>
            <a:pPr algn="l">
              <a:lnSpc>
                <a:spcPts val="3825"/>
              </a:lnSpc>
            </a:pPr>
          </a:p>
          <a:p>
            <a:pPr algn="l">
              <a:lnSpc>
                <a:spcPts val="3825"/>
              </a:lnSpc>
            </a:pPr>
            <a:r>
              <a:rPr lang="en-US" sz="3188">
                <a:solidFill>
                  <a:srgbClr val="000000"/>
                </a:solidFill>
                <a:latin typeface="Calibri (MS)"/>
                <a:ea typeface="Calibri (MS)"/>
                <a:cs typeface="Calibri (MS)"/>
                <a:sym typeface="Calibri (MS)"/>
              </a:rPr>
              <a:t>What’s Missing</a:t>
            </a:r>
          </a:p>
          <a:p>
            <a:pPr algn="l">
              <a:lnSpc>
                <a:spcPts val="3825"/>
              </a:lnSpc>
            </a:pPr>
            <a:r>
              <a:rPr lang="en-US" sz="3188">
                <a:solidFill>
                  <a:srgbClr val="000000"/>
                </a:solidFill>
                <a:latin typeface="Calibri (MS)"/>
                <a:ea typeface="Calibri (MS)"/>
                <a:cs typeface="Calibri (MS)"/>
                <a:sym typeface="Calibri (MS)"/>
              </a:rPr>
              <a:t>• No proactive AI inside students’ daily workflow</a:t>
            </a:r>
          </a:p>
          <a:p>
            <a:pPr algn="l">
              <a:lnSpc>
                <a:spcPts val="3825"/>
              </a:lnSpc>
            </a:pPr>
            <a:r>
              <a:rPr lang="en-US" sz="3188">
                <a:solidFill>
                  <a:srgbClr val="000000"/>
                </a:solidFill>
                <a:latin typeface="Calibri (MS)"/>
                <a:ea typeface="Calibri (MS)"/>
                <a:cs typeface="Calibri (MS)"/>
                <a:sym typeface="Calibri (MS)"/>
              </a:rPr>
              <a:t>• AI tools respond, but rarely take real actions</a:t>
            </a:r>
          </a:p>
          <a:p>
            <a:pPr algn="l">
              <a:lnSpc>
                <a:spcPts val="3825"/>
              </a:lnSpc>
            </a:pPr>
            <a:r>
              <a:rPr lang="en-US" sz="3188">
                <a:solidFill>
                  <a:srgbClr val="000000"/>
                </a:solidFill>
                <a:latin typeface="Calibri (MS)"/>
                <a:ea typeface="Calibri (MS)"/>
                <a:cs typeface="Calibri (MS)"/>
                <a:sym typeface="Calibri (MS)"/>
              </a:rPr>
              <a:t>• Lack of persistent context about schedules, syllabus, and progress</a:t>
            </a:r>
          </a:p>
          <a:p>
            <a:pPr algn="l">
              <a:lnSpc>
                <a:spcPts val="3825"/>
              </a:lnSpc>
            </a:pPr>
          </a:p>
          <a:p>
            <a:pPr algn="l">
              <a:lnSpc>
                <a:spcPts val="3825"/>
              </a:lnSpc>
            </a:pPr>
            <a:r>
              <a:rPr lang="en-US" sz="3188">
                <a:solidFill>
                  <a:srgbClr val="000000"/>
                </a:solidFill>
                <a:latin typeface="Calibri (MS)"/>
                <a:ea typeface="Calibri (MS)"/>
                <a:cs typeface="Calibri (MS)"/>
                <a:sym typeface="Calibri (MS)"/>
              </a:rPr>
              <a:t>Opportunity</a:t>
            </a:r>
          </a:p>
          <a:p>
            <a:pPr algn="l">
              <a:lnSpc>
                <a:spcPts val="3825"/>
              </a:lnSpc>
            </a:pPr>
            <a:r>
              <a:rPr lang="en-US" sz="3188">
                <a:solidFill>
                  <a:srgbClr val="000000"/>
                </a:solidFill>
                <a:latin typeface="Calibri (MS)"/>
                <a:ea typeface="Calibri (MS)"/>
                <a:cs typeface="Calibri (MS)"/>
                <a:sym typeface="Calibri (MS)"/>
              </a:rPr>
              <a:t>• Turn WhatsApp into a real AI assistant layer</a:t>
            </a:r>
          </a:p>
          <a:p>
            <a:pPr algn="l">
              <a:lnSpc>
                <a:spcPts val="3825"/>
              </a:lnSpc>
            </a:pPr>
            <a:r>
              <a:rPr lang="en-US" sz="3188">
                <a:solidFill>
                  <a:srgbClr val="000000"/>
                </a:solidFill>
                <a:latin typeface="Calibri (MS)"/>
                <a:ea typeface="Calibri (MS)"/>
                <a:cs typeface="Calibri (MS)"/>
                <a:sym typeface="Calibri (MS)"/>
              </a:rPr>
              <a:t>• Create a proactive, local-first student companion</a:t>
            </a:r>
          </a:p>
          <a:p>
            <a:pPr algn="l">
              <a:lnSpc>
                <a:spcPts val="3825"/>
              </a:lnSpc>
            </a:pPr>
            <a:r>
              <a:rPr lang="en-US" sz="3188">
                <a:solidFill>
                  <a:srgbClr val="000000"/>
                </a:solidFill>
                <a:latin typeface="Calibri (MS)"/>
                <a:ea typeface="Calibri (MS)"/>
                <a:cs typeface="Calibri (MS)"/>
                <a:sym typeface="Calibri (MS)"/>
              </a:rPr>
              <a:t>• One conversational interface for reminders, workflows, and automation</a:t>
            </a:r>
          </a:p>
          <a:p>
            <a:pPr algn="l">
              <a:lnSpc>
                <a:spcPts val="3825"/>
              </a:lnSpc>
            </a:pPr>
          </a:p>
          <a:p>
            <a:pPr algn="l">
              <a:lnSpc>
                <a:spcPts val="3825"/>
              </a:lnSpc>
            </a:pPr>
            <a:r>
              <a:rPr lang="en-US" sz="3188">
                <a:solidFill>
                  <a:srgbClr val="44546A"/>
                </a:solidFill>
                <a:latin typeface="Calibri (MS)"/>
                <a:ea typeface="Calibri (MS)"/>
                <a:cs typeface="Calibri (MS)"/>
                <a:sym typeface="Calibri (MS)"/>
              </a:rPr>
              <a:t>“Students don’t need another chatbot. They need an AI that actually participates in their life.”</a:t>
            </a:r>
          </a:p>
          <a:p>
            <a:pPr algn="l">
              <a:lnSpc>
                <a:spcPts val="3130"/>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525" y="-9525"/>
            <a:ext cx="18307050" cy="147066"/>
            <a:chOff x="0" y="0"/>
            <a:chExt cx="24409400" cy="196088"/>
          </a:xfrm>
        </p:grpSpPr>
        <p:sp>
          <p:nvSpPr>
            <p:cNvPr name="Freeform 3" id="3"/>
            <p:cNvSpPr/>
            <p:nvPr/>
          </p:nvSpPr>
          <p:spPr>
            <a:xfrm flipH="false" flipV="false" rot="0">
              <a:off x="0" y="0"/>
              <a:ext cx="24409400" cy="196088"/>
            </a:xfrm>
            <a:custGeom>
              <a:avLst/>
              <a:gdLst/>
              <a:ahLst/>
              <a:cxnLst/>
              <a:rect r="r" b="b" t="t" l="l"/>
              <a:pathLst>
                <a:path h="196088" w="24409400">
                  <a:moveTo>
                    <a:pt x="0" y="0"/>
                  </a:moveTo>
                  <a:lnTo>
                    <a:pt x="24409400" y="0"/>
                  </a:lnTo>
                  <a:lnTo>
                    <a:pt x="24409400" y="196088"/>
                  </a:lnTo>
                  <a:lnTo>
                    <a:pt x="0" y="196088"/>
                  </a:lnTo>
                  <a:close/>
                </a:path>
              </a:pathLst>
            </a:custGeom>
            <a:solidFill>
              <a:srgbClr val="00B4D8"/>
            </a:solidFill>
            <a:ln w="19050" cap="sq">
              <a:solidFill>
                <a:srgbClr val="00B4D8"/>
              </a:solidFill>
              <a:prstDash val="solid"/>
              <a:miter/>
            </a:ln>
          </p:spPr>
        </p:sp>
      </p:grpSp>
      <p:grpSp>
        <p:nvGrpSpPr>
          <p:cNvPr name="Group 4" id="4"/>
          <p:cNvGrpSpPr/>
          <p:nvPr/>
        </p:nvGrpSpPr>
        <p:grpSpPr>
          <a:xfrm rot="0">
            <a:off x="904875" y="319659"/>
            <a:ext cx="2945130" cy="531114"/>
            <a:chOff x="0" y="0"/>
            <a:chExt cx="3926840" cy="708152"/>
          </a:xfrm>
        </p:grpSpPr>
        <p:sp>
          <p:nvSpPr>
            <p:cNvPr name="Freeform 5" id="5"/>
            <p:cNvSpPr/>
            <p:nvPr/>
          </p:nvSpPr>
          <p:spPr>
            <a:xfrm flipH="false" flipV="false" rot="0">
              <a:off x="0" y="0"/>
              <a:ext cx="3926840" cy="708152"/>
            </a:xfrm>
            <a:custGeom>
              <a:avLst/>
              <a:gdLst/>
              <a:ahLst/>
              <a:cxnLst/>
              <a:rect r="r" b="b" t="t" l="l"/>
              <a:pathLst>
                <a:path h="708152" w="3926840">
                  <a:moveTo>
                    <a:pt x="0" y="0"/>
                  </a:moveTo>
                  <a:lnTo>
                    <a:pt x="3926840" y="0"/>
                  </a:lnTo>
                  <a:lnTo>
                    <a:pt x="3926840" y="708152"/>
                  </a:lnTo>
                  <a:lnTo>
                    <a:pt x="0" y="708152"/>
                  </a:lnTo>
                  <a:close/>
                </a:path>
              </a:pathLst>
            </a:custGeom>
            <a:solidFill>
              <a:srgbClr val="0077A8"/>
            </a:solidFill>
            <a:ln w="19050" cap="sq">
              <a:solidFill>
                <a:srgbClr val="0077A8"/>
              </a:solidFill>
              <a:prstDash val="solid"/>
              <a:miter/>
            </a:ln>
          </p:spPr>
        </p:sp>
      </p:grpSp>
      <p:grpSp>
        <p:nvGrpSpPr>
          <p:cNvPr name="Group 6" id="6"/>
          <p:cNvGrpSpPr/>
          <p:nvPr/>
        </p:nvGrpSpPr>
        <p:grpSpPr>
          <a:xfrm rot="0">
            <a:off x="914400" y="329184"/>
            <a:ext cx="2926080" cy="512064"/>
            <a:chOff x="0" y="0"/>
            <a:chExt cx="3901440" cy="682752"/>
          </a:xfrm>
        </p:grpSpPr>
        <p:sp>
          <p:nvSpPr>
            <p:cNvPr name="Freeform 7" id="7"/>
            <p:cNvSpPr/>
            <p:nvPr/>
          </p:nvSpPr>
          <p:spPr>
            <a:xfrm flipH="false" flipV="false" rot="0">
              <a:off x="0" y="0"/>
              <a:ext cx="3901440" cy="682752"/>
            </a:xfrm>
            <a:custGeom>
              <a:avLst/>
              <a:gdLst/>
              <a:ahLst/>
              <a:cxnLst/>
              <a:rect r="r" b="b" t="t" l="l"/>
              <a:pathLst>
                <a:path h="682752" w="3901440">
                  <a:moveTo>
                    <a:pt x="0" y="0"/>
                  </a:moveTo>
                  <a:lnTo>
                    <a:pt x="3901440" y="0"/>
                  </a:lnTo>
                  <a:lnTo>
                    <a:pt x="3901440" y="682752"/>
                  </a:lnTo>
                  <a:lnTo>
                    <a:pt x="0" y="682752"/>
                  </a:lnTo>
                  <a:close/>
                </a:path>
              </a:pathLst>
            </a:custGeom>
            <a:blipFill>
              <a:blip r:embed="rId2">
                <a:alphaModFix amt="0"/>
              </a:blip>
              <a:stretch>
                <a:fillRect l="0" t="-61343" r="0" b="-61343"/>
              </a:stretch>
            </a:blipFill>
          </p:spPr>
        </p:sp>
        <p:sp>
          <p:nvSpPr>
            <p:cNvPr name="TextBox 8" id="8"/>
            <p:cNvSpPr txBox="true"/>
            <p:nvPr/>
          </p:nvSpPr>
          <p:spPr>
            <a:xfrm>
              <a:off x="0" y="-38100"/>
              <a:ext cx="3901440" cy="720852"/>
            </a:xfrm>
            <a:prstGeom prst="rect">
              <a:avLst/>
            </a:prstGeom>
          </p:spPr>
          <p:txBody>
            <a:bodyPr anchor="ctr" rtlCol="false" tIns="0" lIns="0" bIns="0" rIns="0"/>
            <a:lstStyle/>
            <a:p>
              <a:pPr algn="ctr">
                <a:lnSpc>
                  <a:spcPts val="1800"/>
                </a:lnSpc>
              </a:pPr>
              <a:r>
                <a:rPr lang="en-US" sz="1500" b="true">
                  <a:solidFill>
                    <a:srgbClr val="FFFFFF"/>
                  </a:solidFill>
                  <a:latin typeface="Calibri (MS) Bold"/>
                  <a:ea typeface="Calibri (MS) Bold"/>
                  <a:cs typeface="Calibri (MS) Bold"/>
                  <a:sym typeface="Calibri (MS) Bold"/>
                </a:rPr>
                <a:t>Idea</a:t>
              </a:r>
            </a:p>
          </p:txBody>
        </p:sp>
      </p:grpSp>
      <p:grpSp>
        <p:nvGrpSpPr>
          <p:cNvPr name="Group 9" id="9"/>
          <p:cNvGrpSpPr/>
          <p:nvPr/>
        </p:nvGrpSpPr>
        <p:grpSpPr>
          <a:xfrm rot="0">
            <a:off x="914400" y="1005840"/>
            <a:ext cx="16459200" cy="1280160"/>
            <a:chOff x="0" y="0"/>
            <a:chExt cx="21945600" cy="1706880"/>
          </a:xfrm>
        </p:grpSpPr>
        <p:sp>
          <p:nvSpPr>
            <p:cNvPr name="Freeform 10" id="10"/>
            <p:cNvSpPr/>
            <p:nvPr/>
          </p:nvSpPr>
          <p:spPr>
            <a:xfrm flipH="false" flipV="false" rot="0">
              <a:off x="0" y="0"/>
              <a:ext cx="21945600" cy="1706880"/>
            </a:xfrm>
            <a:custGeom>
              <a:avLst/>
              <a:gdLst/>
              <a:ahLst/>
              <a:cxnLst/>
              <a:rect r="r" b="b" t="t" l="l"/>
              <a:pathLst>
                <a:path h="1706880" w="21945600">
                  <a:moveTo>
                    <a:pt x="0" y="0"/>
                  </a:moveTo>
                  <a:lnTo>
                    <a:pt x="21945600" y="0"/>
                  </a:lnTo>
                  <a:lnTo>
                    <a:pt x="21945600" y="1706880"/>
                  </a:lnTo>
                  <a:lnTo>
                    <a:pt x="0" y="1706880"/>
                  </a:lnTo>
                  <a:close/>
                </a:path>
              </a:pathLst>
            </a:custGeom>
            <a:blipFill>
              <a:blip r:embed="rId2">
                <a:alphaModFix amt="0"/>
              </a:blip>
              <a:stretch>
                <a:fillRect l="0" t="-200521" r="0" b="-200521"/>
              </a:stretch>
            </a:blipFill>
          </p:spPr>
        </p:sp>
        <p:sp>
          <p:nvSpPr>
            <p:cNvPr name="TextBox 11" id="11"/>
            <p:cNvSpPr txBox="true"/>
            <p:nvPr/>
          </p:nvSpPr>
          <p:spPr>
            <a:xfrm>
              <a:off x="0" y="-123825"/>
              <a:ext cx="21945600" cy="1830705"/>
            </a:xfrm>
            <a:prstGeom prst="rect">
              <a:avLst/>
            </a:prstGeom>
          </p:spPr>
          <p:txBody>
            <a:bodyPr anchor="ctr" rtlCol="false" tIns="0" lIns="0" bIns="0" rIns="0"/>
            <a:lstStyle/>
            <a:p>
              <a:pPr algn="l">
                <a:lnSpc>
                  <a:spcPts val="7680"/>
                </a:lnSpc>
              </a:pPr>
              <a:r>
                <a:rPr lang="en-US" sz="6400" b="true">
                  <a:solidFill>
                    <a:srgbClr val="000000"/>
                  </a:solidFill>
                  <a:latin typeface="Calibri (MS) Bold"/>
                  <a:ea typeface="Calibri (MS) Bold"/>
                  <a:cs typeface="Calibri (MS) Bold"/>
                  <a:sym typeface="Calibri (MS) Bold"/>
                </a:rPr>
                <a:t>Your Solutions</a:t>
              </a:r>
            </a:p>
          </p:txBody>
        </p:sp>
      </p:grpSp>
      <p:sp>
        <p:nvSpPr>
          <p:cNvPr name="TextBox 12" id="12"/>
          <p:cNvSpPr txBox="true"/>
          <p:nvPr/>
        </p:nvSpPr>
        <p:spPr>
          <a:xfrm rot="0">
            <a:off x="904875" y="2493940"/>
            <a:ext cx="16354425" cy="6315075"/>
          </a:xfrm>
          <a:prstGeom prst="rect">
            <a:avLst/>
          </a:prstGeom>
        </p:spPr>
        <p:txBody>
          <a:bodyPr anchor="t" rtlCol="false" tIns="0" lIns="0" bIns="0" rIns="0">
            <a:spAutoFit/>
          </a:bodyPr>
          <a:lstStyle/>
          <a:p>
            <a:pPr algn="l">
              <a:lnSpc>
                <a:spcPts val="3839"/>
              </a:lnSpc>
            </a:pPr>
            <a:r>
              <a:rPr lang="en-US" sz="3199">
                <a:solidFill>
                  <a:srgbClr val="000000"/>
                </a:solidFill>
                <a:latin typeface="Calibri (MS)"/>
                <a:ea typeface="Calibri (MS)"/>
                <a:cs typeface="Calibri (MS)"/>
                <a:sym typeface="Calibri (MS)"/>
              </a:rPr>
              <a:t>CUE is a proactive AI study companion that lives inside </a:t>
            </a:r>
            <a:r>
              <a:rPr lang="en-US" sz="3199">
                <a:solidFill>
                  <a:srgbClr val="000000"/>
                </a:solidFill>
                <a:latin typeface="Calibri (MS)"/>
                <a:ea typeface="Calibri (MS)"/>
                <a:cs typeface="Calibri (MS)"/>
                <a:sym typeface="Calibri (MS)"/>
              </a:rPr>
              <a:t>WhatsApp and helps students stay consistent without needing separate productivity apps.</a:t>
            </a:r>
          </a:p>
          <a:p>
            <a:pPr algn="l">
              <a:lnSpc>
                <a:spcPts val="3839"/>
              </a:lnSpc>
            </a:pPr>
            <a:r>
              <a:rPr lang="en-US" sz="3199">
                <a:solidFill>
                  <a:srgbClr val="000000"/>
                </a:solidFill>
                <a:latin typeface="Calibri (MS)"/>
                <a:ea typeface="Calibri (MS)"/>
                <a:cs typeface="Calibri (MS)"/>
                <a:sym typeface="Calibri (MS)"/>
              </a:rPr>
              <a:t>Key Features</a:t>
            </a:r>
          </a:p>
          <a:p>
            <a:pPr algn="l">
              <a:lnSpc>
                <a:spcPts val="3839"/>
              </a:lnSpc>
            </a:pPr>
            <a:r>
              <a:rPr lang="en-US" sz="3199">
                <a:solidFill>
                  <a:srgbClr val="000000"/>
                </a:solidFill>
                <a:latin typeface="Calibri (MS)"/>
                <a:ea typeface="Calibri (MS)"/>
                <a:cs typeface="Calibri (MS)"/>
                <a:sym typeface="Calibri (MS)"/>
              </a:rPr>
              <a:t>• Personalized study schedules based on syllabus and exam dates</a:t>
            </a:r>
          </a:p>
          <a:p>
            <a:pPr algn="l">
              <a:lnSpc>
                <a:spcPts val="3839"/>
              </a:lnSpc>
            </a:pPr>
            <a:r>
              <a:rPr lang="en-US" sz="3199">
                <a:solidFill>
                  <a:srgbClr val="000000"/>
                </a:solidFill>
                <a:latin typeface="Calibri (MS)"/>
                <a:ea typeface="Calibri (MS)"/>
                <a:cs typeface="Calibri (MS)"/>
                <a:sym typeface="Calibri (MS)"/>
              </a:rPr>
              <a:t>• Daily study material delivered automatically at study time</a:t>
            </a:r>
          </a:p>
          <a:p>
            <a:pPr algn="l">
              <a:lnSpc>
                <a:spcPts val="3839"/>
              </a:lnSpc>
            </a:pPr>
            <a:r>
              <a:rPr lang="en-US" sz="3199">
                <a:solidFill>
                  <a:srgbClr val="000000"/>
                </a:solidFill>
                <a:latin typeface="Calibri (MS)"/>
                <a:ea typeface="Calibri (MS)"/>
                <a:cs typeface="Calibri (MS)"/>
                <a:sym typeface="Calibri (MS)"/>
              </a:rPr>
              <a:t>• Adaptive planning based on user activity and routine changes</a:t>
            </a:r>
          </a:p>
          <a:p>
            <a:pPr algn="l">
              <a:lnSpc>
                <a:spcPts val="3839"/>
              </a:lnSpc>
            </a:pPr>
            <a:r>
              <a:rPr lang="en-US" sz="3199">
                <a:solidFill>
                  <a:srgbClr val="000000"/>
                </a:solidFill>
                <a:latin typeface="Calibri (MS)"/>
                <a:ea typeface="Calibri (MS)"/>
                <a:cs typeface="Calibri (MS)"/>
                <a:sym typeface="Calibri (MS)"/>
              </a:rPr>
              <a:t>• Emotion-aware responses for stress, burnout, and procrastination</a:t>
            </a:r>
          </a:p>
          <a:p>
            <a:pPr algn="l">
              <a:lnSpc>
                <a:spcPts val="3839"/>
              </a:lnSpc>
            </a:pPr>
            <a:r>
              <a:rPr lang="en-US" sz="3199">
                <a:solidFill>
                  <a:srgbClr val="000000"/>
                </a:solidFill>
                <a:latin typeface="Calibri (MS)"/>
                <a:ea typeface="Calibri (MS)"/>
                <a:cs typeface="Calibri (MS)"/>
                <a:sym typeface="Calibri (MS)"/>
              </a:rPr>
              <a:t>• Emergency exam mode for last-minute preparation</a:t>
            </a:r>
          </a:p>
          <a:p>
            <a:pPr algn="l">
              <a:lnSpc>
                <a:spcPts val="3839"/>
              </a:lnSpc>
            </a:pPr>
            <a:r>
              <a:rPr lang="en-US" sz="3199">
                <a:solidFill>
                  <a:srgbClr val="000000"/>
                </a:solidFill>
                <a:latin typeface="Calibri (MS)"/>
                <a:ea typeface="Calibri (MS)"/>
                <a:cs typeface="Calibri (MS)"/>
                <a:sym typeface="Calibri (MS)"/>
              </a:rPr>
              <a:t>• Local-first AI workflow powered by OpenClaw + Gemini 2.5 Flash</a:t>
            </a:r>
          </a:p>
          <a:p>
            <a:pPr algn="l">
              <a:lnSpc>
                <a:spcPts val="3839"/>
              </a:lnSpc>
            </a:pPr>
            <a:r>
              <a:rPr lang="en-US" sz="3199">
                <a:solidFill>
                  <a:srgbClr val="000000"/>
                </a:solidFill>
                <a:latin typeface="Calibri (MS)"/>
                <a:ea typeface="Calibri (MS)"/>
                <a:cs typeface="Calibri (MS)"/>
                <a:sym typeface="Calibri (MS)"/>
              </a:rPr>
              <a:t>Core Idea</a:t>
            </a:r>
          </a:p>
          <a:p>
            <a:pPr algn="l">
              <a:lnSpc>
                <a:spcPts val="3839"/>
              </a:lnSpc>
            </a:pPr>
            <a:r>
              <a:rPr lang="en-US" sz="3199">
                <a:solidFill>
                  <a:srgbClr val="000000"/>
                </a:solidFill>
                <a:latin typeface="Calibri (MS)"/>
                <a:ea typeface="Calibri (MS)"/>
                <a:cs typeface="Calibri (MS)"/>
                <a:sym typeface="Calibri (MS)"/>
              </a:rPr>
              <a:t>Instead of waiting for students to ask for help, CUE actively supports them through reminders, study guidance, and real-time workflow assistance directly inside a familiar messaging platform.</a:t>
            </a:r>
          </a:p>
          <a:p>
            <a:pPr algn="l">
              <a:lnSpc>
                <a:spcPts val="3240"/>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525" y="-9525"/>
            <a:ext cx="18307050" cy="147066"/>
            <a:chOff x="0" y="0"/>
            <a:chExt cx="24409400" cy="196088"/>
          </a:xfrm>
        </p:grpSpPr>
        <p:sp>
          <p:nvSpPr>
            <p:cNvPr name="Freeform 3" id="3"/>
            <p:cNvSpPr/>
            <p:nvPr/>
          </p:nvSpPr>
          <p:spPr>
            <a:xfrm flipH="false" flipV="false" rot="0">
              <a:off x="0" y="0"/>
              <a:ext cx="24409400" cy="196088"/>
            </a:xfrm>
            <a:custGeom>
              <a:avLst/>
              <a:gdLst/>
              <a:ahLst/>
              <a:cxnLst/>
              <a:rect r="r" b="b" t="t" l="l"/>
              <a:pathLst>
                <a:path h="196088" w="24409400">
                  <a:moveTo>
                    <a:pt x="0" y="0"/>
                  </a:moveTo>
                  <a:lnTo>
                    <a:pt x="24409400" y="0"/>
                  </a:lnTo>
                  <a:lnTo>
                    <a:pt x="24409400" y="196088"/>
                  </a:lnTo>
                  <a:lnTo>
                    <a:pt x="0" y="196088"/>
                  </a:lnTo>
                  <a:close/>
                </a:path>
              </a:pathLst>
            </a:custGeom>
            <a:solidFill>
              <a:srgbClr val="00B4D8"/>
            </a:solidFill>
            <a:ln w="19050" cap="sq">
              <a:solidFill>
                <a:srgbClr val="00B4D8"/>
              </a:solidFill>
              <a:prstDash val="solid"/>
              <a:miter/>
            </a:ln>
          </p:spPr>
        </p:sp>
      </p:grpSp>
      <p:grpSp>
        <p:nvGrpSpPr>
          <p:cNvPr name="Group 4" id="4"/>
          <p:cNvGrpSpPr/>
          <p:nvPr/>
        </p:nvGrpSpPr>
        <p:grpSpPr>
          <a:xfrm rot="0">
            <a:off x="904875" y="319659"/>
            <a:ext cx="2945130" cy="531114"/>
            <a:chOff x="0" y="0"/>
            <a:chExt cx="3926840" cy="708152"/>
          </a:xfrm>
        </p:grpSpPr>
        <p:sp>
          <p:nvSpPr>
            <p:cNvPr name="Freeform 5" id="5"/>
            <p:cNvSpPr/>
            <p:nvPr/>
          </p:nvSpPr>
          <p:spPr>
            <a:xfrm flipH="false" flipV="false" rot="0">
              <a:off x="0" y="0"/>
              <a:ext cx="3926840" cy="708152"/>
            </a:xfrm>
            <a:custGeom>
              <a:avLst/>
              <a:gdLst/>
              <a:ahLst/>
              <a:cxnLst/>
              <a:rect r="r" b="b" t="t" l="l"/>
              <a:pathLst>
                <a:path h="708152" w="3926840">
                  <a:moveTo>
                    <a:pt x="0" y="0"/>
                  </a:moveTo>
                  <a:lnTo>
                    <a:pt x="3926840" y="0"/>
                  </a:lnTo>
                  <a:lnTo>
                    <a:pt x="3926840" y="708152"/>
                  </a:lnTo>
                  <a:lnTo>
                    <a:pt x="0" y="708152"/>
                  </a:lnTo>
                  <a:close/>
                </a:path>
              </a:pathLst>
            </a:custGeom>
            <a:solidFill>
              <a:srgbClr val="0077A8"/>
            </a:solidFill>
            <a:ln w="19050" cap="sq">
              <a:solidFill>
                <a:srgbClr val="0077A8"/>
              </a:solidFill>
              <a:prstDash val="solid"/>
              <a:miter/>
            </a:ln>
          </p:spPr>
        </p:sp>
      </p:grpSp>
      <p:grpSp>
        <p:nvGrpSpPr>
          <p:cNvPr name="Group 6" id="6"/>
          <p:cNvGrpSpPr/>
          <p:nvPr/>
        </p:nvGrpSpPr>
        <p:grpSpPr>
          <a:xfrm rot="0">
            <a:off x="914400" y="329184"/>
            <a:ext cx="2926080" cy="512064"/>
            <a:chOff x="0" y="0"/>
            <a:chExt cx="3901440" cy="682752"/>
          </a:xfrm>
        </p:grpSpPr>
        <p:sp>
          <p:nvSpPr>
            <p:cNvPr name="Freeform 7" id="7"/>
            <p:cNvSpPr/>
            <p:nvPr/>
          </p:nvSpPr>
          <p:spPr>
            <a:xfrm flipH="false" flipV="false" rot="0">
              <a:off x="0" y="0"/>
              <a:ext cx="3901440" cy="682752"/>
            </a:xfrm>
            <a:custGeom>
              <a:avLst/>
              <a:gdLst/>
              <a:ahLst/>
              <a:cxnLst/>
              <a:rect r="r" b="b" t="t" l="l"/>
              <a:pathLst>
                <a:path h="682752" w="3901440">
                  <a:moveTo>
                    <a:pt x="0" y="0"/>
                  </a:moveTo>
                  <a:lnTo>
                    <a:pt x="3901440" y="0"/>
                  </a:lnTo>
                  <a:lnTo>
                    <a:pt x="3901440" y="682752"/>
                  </a:lnTo>
                  <a:lnTo>
                    <a:pt x="0" y="682752"/>
                  </a:lnTo>
                  <a:close/>
                </a:path>
              </a:pathLst>
            </a:custGeom>
            <a:blipFill>
              <a:blip r:embed="rId2">
                <a:alphaModFix amt="0"/>
              </a:blip>
              <a:stretch>
                <a:fillRect l="0" t="-61343" r="0" b="-61343"/>
              </a:stretch>
            </a:blipFill>
          </p:spPr>
        </p:sp>
        <p:sp>
          <p:nvSpPr>
            <p:cNvPr name="TextBox 8" id="8"/>
            <p:cNvSpPr txBox="true"/>
            <p:nvPr/>
          </p:nvSpPr>
          <p:spPr>
            <a:xfrm>
              <a:off x="0" y="-38100"/>
              <a:ext cx="3901440" cy="720852"/>
            </a:xfrm>
            <a:prstGeom prst="rect">
              <a:avLst/>
            </a:prstGeom>
          </p:spPr>
          <p:txBody>
            <a:bodyPr anchor="ctr" rtlCol="false" tIns="0" lIns="0" bIns="0" rIns="0"/>
            <a:lstStyle/>
            <a:p>
              <a:pPr algn="ctr">
                <a:lnSpc>
                  <a:spcPts val="1800"/>
                </a:lnSpc>
              </a:pPr>
              <a:r>
                <a:rPr lang="en-US" sz="1500" b="true">
                  <a:solidFill>
                    <a:srgbClr val="FFFFFF"/>
                  </a:solidFill>
                  <a:latin typeface="Calibri (MS) Bold"/>
                  <a:ea typeface="Calibri (MS) Bold"/>
                  <a:cs typeface="Calibri (MS) Bold"/>
                  <a:sym typeface="Calibri (MS) Bold"/>
                </a:rPr>
                <a:t>Idea</a:t>
              </a:r>
            </a:p>
          </p:txBody>
        </p:sp>
      </p:grpSp>
      <p:grpSp>
        <p:nvGrpSpPr>
          <p:cNvPr name="Group 9" id="9"/>
          <p:cNvGrpSpPr/>
          <p:nvPr/>
        </p:nvGrpSpPr>
        <p:grpSpPr>
          <a:xfrm rot="0">
            <a:off x="800100" y="1005078"/>
            <a:ext cx="16459200" cy="1280160"/>
            <a:chOff x="0" y="0"/>
            <a:chExt cx="21945600" cy="1706880"/>
          </a:xfrm>
        </p:grpSpPr>
        <p:sp>
          <p:nvSpPr>
            <p:cNvPr name="Freeform 10" id="10"/>
            <p:cNvSpPr/>
            <p:nvPr/>
          </p:nvSpPr>
          <p:spPr>
            <a:xfrm flipH="false" flipV="false" rot="0">
              <a:off x="0" y="0"/>
              <a:ext cx="21945600" cy="1706880"/>
            </a:xfrm>
            <a:custGeom>
              <a:avLst/>
              <a:gdLst/>
              <a:ahLst/>
              <a:cxnLst/>
              <a:rect r="r" b="b" t="t" l="l"/>
              <a:pathLst>
                <a:path h="1706880" w="21945600">
                  <a:moveTo>
                    <a:pt x="0" y="0"/>
                  </a:moveTo>
                  <a:lnTo>
                    <a:pt x="21945600" y="0"/>
                  </a:lnTo>
                  <a:lnTo>
                    <a:pt x="21945600" y="1706880"/>
                  </a:lnTo>
                  <a:lnTo>
                    <a:pt x="0" y="1706880"/>
                  </a:lnTo>
                  <a:close/>
                </a:path>
              </a:pathLst>
            </a:custGeom>
            <a:blipFill>
              <a:blip r:embed="rId2">
                <a:alphaModFix amt="0"/>
              </a:blip>
              <a:stretch>
                <a:fillRect l="0" t="-200521" r="0" b="-200521"/>
              </a:stretch>
            </a:blipFill>
          </p:spPr>
        </p:sp>
        <p:sp>
          <p:nvSpPr>
            <p:cNvPr name="TextBox 11" id="11"/>
            <p:cNvSpPr txBox="true"/>
            <p:nvPr/>
          </p:nvSpPr>
          <p:spPr>
            <a:xfrm>
              <a:off x="0" y="-123825"/>
              <a:ext cx="21945600" cy="1830705"/>
            </a:xfrm>
            <a:prstGeom prst="rect">
              <a:avLst/>
            </a:prstGeom>
          </p:spPr>
          <p:txBody>
            <a:bodyPr anchor="ctr" rtlCol="false" tIns="0" lIns="0" bIns="0" rIns="0"/>
            <a:lstStyle/>
            <a:p>
              <a:pPr algn="l">
                <a:lnSpc>
                  <a:spcPts val="7680"/>
                </a:lnSpc>
              </a:pPr>
              <a:r>
                <a:rPr lang="en-US" sz="6400" b="true">
                  <a:solidFill>
                    <a:srgbClr val="000000"/>
                  </a:solidFill>
                  <a:latin typeface="Calibri (MS) Bold"/>
                  <a:ea typeface="Calibri (MS) Bold"/>
                  <a:cs typeface="Calibri (MS) Bold"/>
                  <a:sym typeface="Calibri (MS) Bold"/>
                </a:rPr>
                <a:t>Demo/Product Walkthrough</a:t>
              </a:r>
            </a:p>
          </p:txBody>
        </p:sp>
      </p:grpSp>
      <p:sp>
        <p:nvSpPr>
          <p:cNvPr name="Freeform 12" id="12"/>
          <p:cNvSpPr/>
          <p:nvPr/>
        </p:nvSpPr>
        <p:spPr>
          <a:xfrm flipH="false" flipV="false" rot="0">
            <a:off x="904875" y="2130143"/>
            <a:ext cx="7188910" cy="8156857"/>
          </a:xfrm>
          <a:custGeom>
            <a:avLst/>
            <a:gdLst/>
            <a:ahLst/>
            <a:cxnLst/>
            <a:rect r="r" b="b" t="t" l="l"/>
            <a:pathLst>
              <a:path h="8156857" w="7188910">
                <a:moveTo>
                  <a:pt x="0" y="0"/>
                </a:moveTo>
                <a:lnTo>
                  <a:pt x="7188910" y="0"/>
                </a:lnTo>
                <a:lnTo>
                  <a:pt x="7188910" y="8156857"/>
                </a:lnTo>
                <a:lnTo>
                  <a:pt x="0" y="8156857"/>
                </a:lnTo>
                <a:lnTo>
                  <a:pt x="0" y="0"/>
                </a:lnTo>
                <a:close/>
              </a:path>
            </a:pathLst>
          </a:custGeom>
          <a:blipFill>
            <a:blip r:embed="rId3"/>
            <a:stretch>
              <a:fillRect l="-113" t="0" r="-113" b="-65495"/>
            </a:stretch>
          </a:blipFill>
        </p:spPr>
      </p:sp>
      <p:sp>
        <p:nvSpPr>
          <p:cNvPr name="Freeform 13" id="13"/>
          <p:cNvSpPr/>
          <p:nvPr/>
        </p:nvSpPr>
        <p:spPr>
          <a:xfrm flipH="false" flipV="false" rot="0">
            <a:off x="9424042" y="3152775"/>
            <a:ext cx="7318659" cy="4537629"/>
          </a:xfrm>
          <a:custGeom>
            <a:avLst/>
            <a:gdLst/>
            <a:ahLst/>
            <a:cxnLst/>
            <a:rect r="r" b="b" t="t" l="l"/>
            <a:pathLst>
              <a:path h="4537629" w="7318659">
                <a:moveTo>
                  <a:pt x="0" y="0"/>
                </a:moveTo>
                <a:lnTo>
                  <a:pt x="7318658" y="0"/>
                </a:lnTo>
                <a:lnTo>
                  <a:pt x="7318658" y="4537629"/>
                </a:lnTo>
                <a:lnTo>
                  <a:pt x="0" y="4537629"/>
                </a:lnTo>
                <a:lnTo>
                  <a:pt x="0" y="0"/>
                </a:lnTo>
                <a:close/>
              </a:path>
            </a:pathLst>
          </a:custGeom>
          <a:blipFill>
            <a:blip r:embed="rId3"/>
            <a:stretch>
              <a:fillRect l="0" t="-179617" r="0" b="-22561"/>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525" y="-9525"/>
            <a:ext cx="18307050" cy="147066"/>
            <a:chOff x="0" y="0"/>
            <a:chExt cx="24409400" cy="196088"/>
          </a:xfrm>
        </p:grpSpPr>
        <p:sp>
          <p:nvSpPr>
            <p:cNvPr name="Freeform 3" id="3"/>
            <p:cNvSpPr/>
            <p:nvPr/>
          </p:nvSpPr>
          <p:spPr>
            <a:xfrm flipH="false" flipV="false" rot="0">
              <a:off x="0" y="0"/>
              <a:ext cx="24409400" cy="196088"/>
            </a:xfrm>
            <a:custGeom>
              <a:avLst/>
              <a:gdLst/>
              <a:ahLst/>
              <a:cxnLst/>
              <a:rect r="r" b="b" t="t" l="l"/>
              <a:pathLst>
                <a:path h="196088" w="24409400">
                  <a:moveTo>
                    <a:pt x="0" y="0"/>
                  </a:moveTo>
                  <a:lnTo>
                    <a:pt x="24409400" y="0"/>
                  </a:lnTo>
                  <a:lnTo>
                    <a:pt x="24409400" y="196088"/>
                  </a:lnTo>
                  <a:lnTo>
                    <a:pt x="0" y="196088"/>
                  </a:lnTo>
                  <a:close/>
                </a:path>
              </a:pathLst>
            </a:custGeom>
            <a:solidFill>
              <a:srgbClr val="00B4D8"/>
            </a:solidFill>
            <a:ln w="19050" cap="sq">
              <a:solidFill>
                <a:srgbClr val="00B4D8"/>
              </a:solidFill>
              <a:prstDash val="solid"/>
              <a:miter/>
            </a:ln>
          </p:spPr>
        </p:sp>
      </p:grpSp>
      <p:grpSp>
        <p:nvGrpSpPr>
          <p:cNvPr name="Group 4" id="4"/>
          <p:cNvGrpSpPr/>
          <p:nvPr/>
        </p:nvGrpSpPr>
        <p:grpSpPr>
          <a:xfrm rot="0">
            <a:off x="904875" y="319659"/>
            <a:ext cx="2945130" cy="531114"/>
            <a:chOff x="0" y="0"/>
            <a:chExt cx="3926840" cy="708152"/>
          </a:xfrm>
        </p:grpSpPr>
        <p:sp>
          <p:nvSpPr>
            <p:cNvPr name="Freeform 5" id="5"/>
            <p:cNvSpPr/>
            <p:nvPr/>
          </p:nvSpPr>
          <p:spPr>
            <a:xfrm flipH="false" flipV="false" rot="0">
              <a:off x="0" y="0"/>
              <a:ext cx="3926840" cy="708152"/>
            </a:xfrm>
            <a:custGeom>
              <a:avLst/>
              <a:gdLst/>
              <a:ahLst/>
              <a:cxnLst/>
              <a:rect r="r" b="b" t="t" l="l"/>
              <a:pathLst>
                <a:path h="708152" w="3926840">
                  <a:moveTo>
                    <a:pt x="0" y="0"/>
                  </a:moveTo>
                  <a:lnTo>
                    <a:pt x="3926840" y="0"/>
                  </a:lnTo>
                  <a:lnTo>
                    <a:pt x="3926840" y="708152"/>
                  </a:lnTo>
                  <a:lnTo>
                    <a:pt x="0" y="708152"/>
                  </a:lnTo>
                  <a:close/>
                </a:path>
              </a:pathLst>
            </a:custGeom>
            <a:solidFill>
              <a:srgbClr val="0077A8"/>
            </a:solidFill>
            <a:ln w="19050" cap="sq">
              <a:solidFill>
                <a:srgbClr val="0077A8"/>
              </a:solidFill>
              <a:prstDash val="solid"/>
              <a:miter/>
            </a:ln>
          </p:spPr>
        </p:sp>
      </p:grpSp>
      <p:grpSp>
        <p:nvGrpSpPr>
          <p:cNvPr name="Group 6" id="6"/>
          <p:cNvGrpSpPr/>
          <p:nvPr/>
        </p:nvGrpSpPr>
        <p:grpSpPr>
          <a:xfrm rot="0">
            <a:off x="914400" y="329184"/>
            <a:ext cx="2926080" cy="512064"/>
            <a:chOff x="0" y="0"/>
            <a:chExt cx="3901440" cy="682752"/>
          </a:xfrm>
        </p:grpSpPr>
        <p:sp>
          <p:nvSpPr>
            <p:cNvPr name="Freeform 7" id="7"/>
            <p:cNvSpPr/>
            <p:nvPr/>
          </p:nvSpPr>
          <p:spPr>
            <a:xfrm flipH="false" flipV="false" rot="0">
              <a:off x="0" y="0"/>
              <a:ext cx="3901440" cy="682752"/>
            </a:xfrm>
            <a:custGeom>
              <a:avLst/>
              <a:gdLst/>
              <a:ahLst/>
              <a:cxnLst/>
              <a:rect r="r" b="b" t="t" l="l"/>
              <a:pathLst>
                <a:path h="682752" w="3901440">
                  <a:moveTo>
                    <a:pt x="0" y="0"/>
                  </a:moveTo>
                  <a:lnTo>
                    <a:pt x="3901440" y="0"/>
                  </a:lnTo>
                  <a:lnTo>
                    <a:pt x="3901440" y="682752"/>
                  </a:lnTo>
                  <a:lnTo>
                    <a:pt x="0" y="682752"/>
                  </a:lnTo>
                  <a:close/>
                </a:path>
              </a:pathLst>
            </a:custGeom>
            <a:blipFill>
              <a:blip r:embed="rId2">
                <a:alphaModFix amt="0"/>
              </a:blip>
              <a:stretch>
                <a:fillRect l="0" t="-61343" r="0" b="-61343"/>
              </a:stretch>
            </a:blipFill>
          </p:spPr>
        </p:sp>
        <p:sp>
          <p:nvSpPr>
            <p:cNvPr name="TextBox 8" id="8"/>
            <p:cNvSpPr txBox="true"/>
            <p:nvPr/>
          </p:nvSpPr>
          <p:spPr>
            <a:xfrm>
              <a:off x="0" y="-38100"/>
              <a:ext cx="3901440" cy="720852"/>
            </a:xfrm>
            <a:prstGeom prst="rect">
              <a:avLst/>
            </a:prstGeom>
          </p:spPr>
          <p:txBody>
            <a:bodyPr anchor="ctr" rtlCol="false" tIns="0" lIns="0" bIns="0" rIns="0"/>
            <a:lstStyle/>
            <a:p>
              <a:pPr algn="ctr">
                <a:lnSpc>
                  <a:spcPts val="1800"/>
                </a:lnSpc>
              </a:pPr>
              <a:r>
                <a:rPr lang="en-US" sz="1500" b="true">
                  <a:solidFill>
                    <a:srgbClr val="FFFFFF"/>
                  </a:solidFill>
                  <a:latin typeface="Calibri (MS) Bold"/>
                  <a:ea typeface="Calibri (MS) Bold"/>
                  <a:cs typeface="Calibri (MS) Bold"/>
                  <a:sym typeface="Calibri (MS) Bold"/>
                </a:rPr>
                <a:t>Idea</a:t>
              </a:r>
            </a:p>
          </p:txBody>
        </p:sp>
      </p:grpSp>
      <p:grpSp>
        <p:nvGrpSpPr>
          <p:cNvPr name="Group 9" id="9"/>
          <p:cNvGrpSpPr/>
          <p:nvPr/>
        </p:nvGrpSpPr>
        <p:grpSpPr>
          <a:xfrm rot="0">
            <a:off x="914400" y="1005840"/>
            <a:ext cx="16459200" cy="1280160"/>
            <a:chOff x="0" y="0"/>
            <a:chExt cx="21945600" cy="1706880"/>
          </a:xfrm>
        </p:grpSpPr>
        <p:sp>
          <p:nvSpPr>
            <p:cNvPr name="Freeform 10" id="10"/>
            <p:cNvSpPr/>
            <p:nvPr/>
          </p:nvSpPr>
          <p:spPr>
            <a:xfrm flipH="false" flipV="false" rot="0">
              <a:off x="0" y="0"/>
              <a:ext cx="21945600" cy="1706880"/>
            </a:xfrm>
            <a:custGeom>
              <a:avLst/>
              <a:gdLst/>
              <a:ahLst/>
              <a:cxnLst/>
              <a:rect r="r" b="b" t="t" l="l"/>
              <a:pathLst>
                <a:path h="1706880" w="21945600">
                  <a:moveTo>
                    <a:pt x="0" y="0"/>
                  </a:moveTo>
                  <a:lnTo>
                    <a:pt x="21945600" y="0"/>
                  </a:lnTo>
                  <a:lnTo>
                    <a:pt x="21945600" y="1706880"/>
                  </a:lnTo>
                  <a:lnTo>
                    <a:pt x="0" y="1706880"/>
                  </a:lnTo>
                  <a:close/>
                </a:path>
              </a:pathLst>
            </a:custGeom>
            <a:blipFill>
              <a:blip r:embed="rId2">
                <a:alphaModFix amt="0"/>
              </a:blip>
              <a:stretch>
                <a:fillRect l="0" t="-200521" r="0" b="-200521"/>
              </a:stretch>
            </a:blipFill>
          </p:spPr>
        </p:sp>
        <p:sp>
          <p:nvSpPr>
            <p:cNvPr name="TextBox 11" id="11"/>
            <p:cNvSpPr txBox="true"/>
            <p:nvPr/>
          </p:nvSpPr>
          <p:spPr>
            <a:xfrm>
              <a:off x="0" y="-123825"/>
              <a:ext cx="21945600" cy="1830705"/>
            </a:xfrm>
            <a:prstGeom prst="rect">
              <a:avLst/>
            </a:prstGeom>
          </p:spPr>
          <p:txBody>
            <a:bodyPr anchor="ctr" rtlCol="false" tIns="0" lIns="0" bIns="0" rIns="0"/>
            <a:lstStyle/>
            <a:p>
              <a:pPr algn="l">
                <a:lnSpc>
                  <a:spcPts val="7680"/>
                </a:lnSpc>
              </a:pPr>
              <a:r>
                <a:rPr lang="en-US" sz="6400" b="true">
                  <a:solidFill>
                    <a:srgbClr val="000000"/>
                  </a:solidFill>
                  <a:latin typeface="Calibri (MS) Bold"/>
                  <a:ea typeface="Calibri (MS) Bold"/>
                  <a:cs typeface="Calibri (MS) Bold"/>
                  <a:sym typeface="Calibri (MS) Bold"/>
                </a:rPr>
                <a:t>Tech &amp; Architecture</a:t>
              </a:r>
            </a:p>
          </p:txBody>
        </p:sp>
      </p:grpSp>
      <p:sp>
        <p:nvSpPr>
          <p:cNvPr name="Freeform 12" id="12"/>
          <p:cNvSpPr/>
          <p:nvPr/>
        </p:nvSpPr>
        <p:spPr>
          <a:xfrm flipH="false" flipV="false" rot="0">
            <a:off x="904875" y="1041273"/>
            <a:ext cx="16344900" cy="9004938"/>
          </a:xfrm>
          <a:custGeom>
            <a:avLst/>
            <a:gdLst/>
            <a:ahLst/>
            <a:cxnLst/>
            <a:rect r="r" b="b" t="t" l="l"/>
            <a:pathLst>
              <a:path h="9004938" w="16344900">
                <a:moveTo>
                  <a:pt x="0" y="0"/>
                </a:moveTo>
                <a:lnTo>
                  <a:pt x="16344900" y="0"/>
                </a:lnTo>
                <a:lnTo>
                  <a:pt x="16344900" y="9004938"/>
                </a:lnTo>
                <a:lnTo>
                  <a:pt x="0" y="9004938"/>
                </a:lnTo>
                <a:lnTo>
                  <a:pt x="0" y="0"/>
                </a:lnTo>
                <a:close/>
              </a:path>
            </a:pathLst>
          </a:custGeom>
          <a:blipFill>
            <a:blip r:embed="rId3"/>
            <a:stretch>
              <a:fillRect l="0" t="-347" r="0" b="-1752"/>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525" y="-9525"/>
            <a:ext cx="18307050" cy="147066"/>
            <a:chOff x="0" y="0"/>
            <a:chExt cx="24409400" cy="196088"/>
          </a:xfrm>
        </p:grpSpPr>
        <p:sp>
          <p:nvSpPr>
            <p:cNvPr name="Freeform 3" id="3"/>
            <p:cNvSpPr/>
            <p:nvPr/>
          </p:nvSpPr>
          <p:spPr>
            <a:xfrm flipH="false" flipV="false" rot="0">
              <a:off x="0" y="0"/>
              <a:ext cx="24409400" cy="196088"/>
            </a:xfrm>
            <a:custGeom>
              <a:avLst/>
              <a:gdLst/>
              <a:ahLst/>
              <a:cxnLst/>
              <a:rect r="r" b="b" t="t" l="l"/>
              <a:pathLst>
                <a:path h="196088" w="24409400">
                  <a:moveTo>
                    <a:pt x="0" y="0"/>
                  </a:moveTo>
                  <a:lnTo>
                    <a:pt x="24409400" y="0"/>
                  </a:lnTo>
                  <a:lnTo>
                    <a:pt x="24409400" y="196088"/>
                  </a:lnTo>
                  <a:lnTo>
                    <a:pt x="0" y="196088"/>
                  </a:lnTo>
                  <a:close/>
                </a:path>
              </a:pathLst>
            </a:custGeom>
            <a:solidFill>
              <a:srgbClr val="00B4D8"/>
            </a:solidFill>
            <a:ln w="19050" cap="sq">
              <a:solidFill>
                <a:srgbClr val="00B4D8"/>
              </a:solidFill>
              <a:prstDash val="solid"/>
              <a:miter/>
            </a:ln>
          </p:spPr>
        </p:sp>
      </p:grpSp>
      <p:grpSp>
        <p:nvGrpSpPr>
          <p:cNvPr name="Group 4" id="4"/>
          <p:cNvGrpSpPr/>
          <p:nvPr/>
        </p:nvGrpSpPr>
        <p:grpSpPr>
          <a:xfrm rot="0">
            <a:off x="904875" y="319659"/>
            <a:ext cx="2945130" cy="531114"/>
            <a:chOff x="0" y="0"/>
            <a:chExt cx="3926840" cy="708152"/>
          </a:xfrm>
        </p:grpSpPr>
        <p:sp>
          <p:nvSpPr>
            <p:cNvPr name="Freeform 5" id="5"/>
            <p:cNvSpPr/>
            <p:nvPr/>
          </p:nvSpPr>
          <p:spPr>
            <a:xfrm flipH="false" flipV="false" rot="0">
              <a:off x="0" y="0"/>
              <a:ext cx="3926840" cy="708152"/>
            </a:xfrm>
            <a:custGeom>
              <a:avLst/>
              <a:gdLst/>
              <a:ahLst/>
              <a:cxnLst/>
              <a:rect r="r" b="b" t="t" l="l"/>
              <a:pathLst>
                <a:path h="708152" w="3926840">
                  <a:moveTo>
                    <a:pt x="0" y="0"/>
                  </a:moveTo>
                  <a:lnTo>
                    <a:pt x="3926840" y="0"/>
                  </a:lnTo>
                  <a:lnTo>
                    <a:pt x="3926840" y="708152"/>
                  </a:lnTo>
                  <a:lnTo>
                    <a:pt x="0" y="708152"/>
                  </a:lnTo>
                  <a:close/>
                </a:path>
              </a:pathLst>
            </a:custGeom>
            <a:solidFill>
              <a:srgbClr val="0077A8"/>
            </a:solidFill>
            <a:ln w="19050" cap="sq">
              <a:solidFill>
                <a:srgbClr val="0077A8"/>
              </a:solidFill>
              <a:prstDash val="solid"/>
              <a:miter/>
            </a:ln>
          </p:spPr>
        </p:sp>
      </p:grpSp>
      <p:grpSp>
        <p:nvGrpSpPr>
          <p:cNvPr name="Group 6" id="6"/>
          <p:cNvGrpSpPr/>
          <p:nvPr/>
        </p:nvGrpSpPr>
        <p:grpSpPr>
          <a:xfrm rot="0">
            <a:off x="914400" y="329184"/>
            <a:ext cx="2926080" cy="512064"/>
            <a:chOff x="0" y="0"/>
            <a:chExt cx="3901440" cy="682752"/>
          </a:xfrm>
        </p:grpSpPr>
        <p:sp>
          <p:nvSpPr>
            <p:cNvPr name="Freeform 7" id="7"/>
            <p:cNvSpPr/>
            <p:nvPr/>
          </p:nvSpPr>
          <p:spPr>
            <a:xfrm flipH="false" flipV="false" rot="0">
              <a:off x="0" y="0"/>
              <a:ext cx="3901440" cy="682752"/>
            </a:xfrm>
            <a:custGeom>
              <a:avLst/>
              <a:gdLst/>
              <a:ahLst/>
              <a:cxnLst/>
              <a:rect r="r" b="b" t="t" l="l"/>
              <a:pathLst>
                <a:path h="682752" w="3901440">
                  <a:moveTo>
                    <a:pt x="0" y="0"/>
                  </a:moveTo>
                  <a:lnTo>
                    <a:pt x="3901440" y="0"/>
                  </a:lnTo>
                  <a:lnTo>
                    <a:pt x="3901440" y="682752"/>
                  </a:lnTo>
                  <a:lnTo>
                    <a:pt x="0" y="682752"/>
                  </a:lnTo>
                  <a:close/>
                </a:path>
              </a:pathLst>
            </a:custGeom>
            <a:blipFill>
              <a:blip r:embed="rId2">
                <a:alphaModFix amt="0"/>
              </a:blip>
              <a:stretch>
                <a:fillRect l="0" t="-61343" r="0" b="-61343"/>
              </a:stretch>
            </a:blipFill>
          </p:spPr>
        </p:sp>
        <p:sp>
          <p:nvSpPr>
            <p:cNvPr name="TextBox 8" id="8"/>
            <p:cNvSpPr txBox="true"/>
            <p:nvPr/>
          </p:nvSpPr>
          <p:spPr>
            <a:xfrm>
              <a:off x="0" y="-38100"/>
              <a:ext cx="3901440" cy="720852"/>
            </a:xfrm>
            <a:prstGeom prst="rect">
              <a:avLst/>
            </a:prstGeom>
          </p:spPr>
          <p:txBody>
            <a:bodyPr anchor="ctr" rtlCol="false" tIns="0" lIns="0" bIns="0" rIns="0"/>
            <a:lstStyle/>
            <a:p>
              <a:pPr algn="ctr">
                <a:lnSpc>
                  <a:spcPts val="1800"/>
                </a:lnSpc>
              </a:pPr>
              <a:r>
                <a:rPr lang="en-US" sz="1500" b="true">
                  <a:solidFill>
                    <a:srgbClr val="FFFFFF"/>
                  </a:solidFill>
                  <a:latin typeface="Calibri (MS) Bold"/>
                  <a:ea typeface="Calibri (MS) Bold"/>
                  <a:cs typeface="Calibri (MS) Bold"/>
                  <a:sym typeface="Calibri (MS) Bold"/>
                </a:rPr>
                <a:t>Idea</a:t>
              </a:r>
            </a:p>
          </p:txBody>
        </p:sp>
      </p:grpSp>
      <p:grpSp>
        <p:nvGrpSpPr>
          <p:cNvPr name="Group 9" id="9"/>
          <p:cNvGrpSpPr/>
          <p:nvPr/>
        </p:nvGrpSpPr>
        <p:grpSpPr>
          <a:xfrm rot="0">
            <a:off x="914400" y="1005840"/>
            <a:ext cx="16459200" cy="1280160"/>
            <a:chOff x="0" y="0"/>
            <a:chExt cx="21945600" cy="1706880"/>
          </a:xfrm>
        </p:grpSpPr>
        <p:sp>
          <p:nvSpPr>
            <p:cNvPr name="Freeform 10" id="10"/>
            <p:cNvSpPr/>
            <p:nvPr/>
          </p:nvSpPr>
          <p:spPr>
            <a:xfrm flipH="false" flipV="false" rot="0">
              <a:off x="0" y="0"/>
              <a:ext cx="21945600" cy="1706880"/>
            </a:xfrm>
            <a:custGeom>
              <a:avLst/>
              <a:gdLst/>
              <a:ahLst/>
              <a:cxnLst/>
              <a:rect r="r" b="b" t="t" l="l"/>
              <a:pathLst>
                <a:path h="1706880" w="21945600">
                  <a:moveTo>
                    <a:pt x="0" y="0"/>
                  </a:moveTo>
                  <a:lnTo>
                    <a:pt x="21945600" y="0"/>
                  </a:lnTo>
                  <a:lnTo>
                    <a:pt x="21945600" y="1706880"/>
                  </a:lnTo>
                  <a:lnTo>
                    <a:pt x="0" y="1706880"/>
                  </a:lnTo>
                  <a:close/>
                </a:path>
              </a:pathLst>
            </a:custGeom>
            <a:blipFill>
              <a:blip r:embed="rId2">
                <a:alphaModFix amt="0"/>
              </a:blip>
              <a:stretch>
                <a:fillRect l="0" t="-200521" r="0" b="-200521"/>
              </a:stretch>
            </a:blipFill>
          </p:spPr>
        </p:sp>
        <p:sp>
          <p:nvSpPr>
            <p:cNvPr name="TextBox 11" id="11"/>
            <p:cNvSpPr txBox="true"/>
            <p:nvPr/>
          </p:nvSpPr>
          <p:spPr>
            <a:xfrm>
              <a:off x="0" y="-123825"/>
              <a:ext cx="21945600" cy="1830705"/>
            </a:xfrm>
            <a:prstGeom prst="rect">
              <a:avLst/>
            </a:prstGeom>
          </p:spPr>
          <p:txBody>
            <a:bodyPr anchor="ctr" rtlCol="false" tIns="0" lIns="0" bIns="0" rIns="0"/>
            <a:lstStyle/>
            <a:p>
              <a:pPr algn="l">
                <a:lnSpc>
                  <a:spcPts val="7680"/>
                </a:lnSpc>
              </a:pPr>
              <a:r>
                <a:rPr lang="en-US" sz="6400" b="true">
                  <a:solidFill>
                    <a:srgbClr val="000000"/>
                  </a:solidFill>
                  <a:latin typeface="Calibri (MS) Bold"/>
                  <a:ea typeface="Calibri (MS) Bold"/>
                  <a:cs typeface="Calibri (MS) Bold"/>
                  <a:sym typeface="Calibri (MS) Bold"/>
                </a:rPr>
                <a:t>Impact &amp; Use cases</a:t>
              </a:r>
            </a:p>
          </p:txBody>
        </p:sp>
      </p:grpSp>
      <p:sp>
        <p:nvSpPr>
          <p:cNvPr name="TextBox 12" id="12"/>
          <p:cNvSpPr txBox="true"/>
          <p:nvPr/>
        </p:nvSpPr>
        <p:spPr>
          <a:xfrm rot="0">
            <a:off x="904875" y="2844945"/>
            <a:ext cx="14383592" cy="5724525"/>
          </a:xfrm>
          <a:prstGeom prst="rect">
            <a:avLst/>
          </a:prstGeom>
        </p:spPr>
        <p:txBody>
          <a:bodyPr anchor="t" rtlCol="false" tIns="0" lIns="0" bIns="0" rIns="0">
            <a:spAutoFit/>
          </a:bodyPr>
          <a:lstStyle/>
          <a:p>
            <a:pPr algn="l">
              <a:lnSpc>
                <a:spcPts val="4079"/>
              </a:lnSpc>
            </a:pPr>
            <a:r>
              <a:rPr lang="en-US" sz="3399">
                <a:solidFill>
                  <a:srgbClr val="000000"/>
                </a:solidFill>
                <a:latin typeface="Calibri (MS)"/>
                <a:ea typeface="Calibri (MS)"/>
                <a:cs typeface="Calibri (MS)"/>
                <a:sym typeface="Calibri (MS)"/>
              </a:rPr>
              <a:t>Real-Life Use Cases</a:t>
            </a:r>
          </a:p>
          <a:p>
            <a:pPr algn="l">
              <a:lnSpc>
                <a:spcPts val="4079"/>
              </a:lnSpc>
            </a:pPr>
            <a:r>
              <a:rPr lang="en-US" sz="3399">
                <a:solidFill>
                  <a:srgbClr val="000000"/>
                </a:solidFill>
                <a:latin typeface="Calibri (MS)"/>
                <a:ea typeface="Calibri (MS)"/>
                <a:cs typeface="Calibri (MS)"/>
                <a:sym typeface="Calibri (MS)"/>
              </a:rPr>
              <a:t>• Daily study reminders for students</a:t>
            </a:r>
          </a:p>
          <a:p>
            <a:pPr algn="l">
              <a:lnSpc>
                <a:spcPts val="4079"/>
              </a:lnSpc>
            </a:pPr>
            <a:r>
              <a:rPr lang="en-US" sz="3399">
                <a:solidFill>
                  <a:srgbClr val="000000"/>
                </a:solidFill>
                <a:latin typeface="Calibri (MS)"/>
                <a:ea typeface="Calibri (MS)"/>
                <a:cs typeface="Calibri (MS)"/>
                <a:sym typeface="Calibri (MS)"/>
              </a:rPr>
              <a:t>• Emergency exam preparation mode</a:t>
            </a:r>
          </a:p>
          <a:p>
            <a:pPr algn="l">
              <a:lnSpc>
                <a:spcPts val="4079"/>
              </a:lnSpc>
            </a:pPr>
            <a:r>
              <a:rPr lang="en-US" sz="3399">
                <a:solidFill>
                  <a:srgbClr val="000000"/>
                </a:solidFill>
                <a:latin typeface="Calibri (MS)"/>
                <a:ea typeface="Calibri (MS)"/>
                <a:cs typeface="Calibri (MS)"/>
                <a:sym typeface="Calibri (MS)"/>
              </a:rPr>
              <a:t>• Personalized study scheduling</a:t>
            </a:r>
          </a:p>
          <a:p>
            <a:pPr algn="l">
              <a:lnSpc>
                <a:spcPts val="4079"/>
              </a:lnSpc>
            </a:pPr>
            <a:r>
              <a:rPr lang="en-US" sz="3399">
                <a:solidFill>
                  <a:srgbClr val="000000"/>
                </a:solidFill>
                <a:latin typeface="Calibri (MS)"/>
                <a:ea typeface="Calibri (MS)"/>
                <a:cs typeface="Calibri (MS)"/>
                <a:sym typeface="Calibri (MS)"/>
              </a:rPr>
              <a:t>• Motivation and burnout support through WhatsApp</a:t>
            </a:r>
          </a:p>
          <a:p>
            <a:pPr algn="l">
              <a:lnSpc>
                <a:spcPts val="4079"/>
              </a:lnSpc>
            </a:pPr>
            <a:r>
              <a:rPr lang="en-US" sz="3399">
                <a:solidFill>
                  <a:srgbClr val="000000"/>
                </a:solidFill>
                <a:latin typeface="Calibri (MS)"/>
                <a:ea typeface="Calibri (MS)"/>
                <a:cs typeface="Calibri (MS)"/>
                <a:sym typeface="Calibri (MS)"/>
              </a:rPr>
              <a:t>Impact Potential</a:t>
            </a:r>
          </a:p>
          <a:p>
            <a:pPr algn="l">
              <a:lnSpc>
                <a:spcPts val="4079"/>
              </a:lnSpc>
            </a:pPr>
            <a:r>
              <a:rPr lang="en-US" sz="3399">
                <a:solidFill>
                  <a:srgbClr val="000000"/>
                </a:solidFill>
                <a:latin typeface="Calibri (MS)"/>
                <a:ea typeface="Calibri (MS)"/>
                <a:cs typeface="Calibri (MS)"/>
                <a:sym typeface="Calibri (MS)"/>
              </a:rPr>
              <a:t>• Makes AI accessible through familiar messaging apps</a:t>
            </a:r>
          </a:p>
          <a:p>
            <a:pPr algn="l">
              <a:lnSpc>
                <a:spcPts val="4079"/>
              </a:lnSpc>
            </a:pPr>
            <a:r>
              <a:rPr lang="en-US" sz="3399">
                <a:solidFill>
                  <a:srgbClr val="000000"/>
                </a:solidFill>
                <a:latin typeface="Calibri (MS)"/>
                <a:ea typeface="Calibri (MS)"/>
                <a:cs typeface="Calibri (MS)"/>
                <a:sym typeface="Calibri (MS)"/>
              </a:rPr>
              <a:t>• Reduces procrastination and missed study plans</a:t>
            </a:r>
          </a:p>
          <a:p>
            <a:pPr algn="l">
              <a:lnSpc>
                <a:spcPts val="4079"/>
              </a:lnSpc>
            </a:pPr>
            <a:r>
              <a:rPr lang="en-US" sz="3399">
                <a:solidFill>
                  <a:srgbClr val="000000"/>
                </a:solidFill>
                <a:latin typeface="Calibri (MS)"/>
                <a:ea typeface="Calibri (MS)"/>
                <a:cs typeface="Calibri (MS)"/>
                <a:sym typeface="Calibri (MS)"/>
              </a:rPr>
              <a:t>• Scalable for classrooms, coaching centers, and colleges</a:t>
            </a:r>
          </a:p>
          <a:p>
            <a:pPr algn="l">
              <a:lnSpc>
                <a:spcPts val="4079"/>
              </a:lnSpc>
            </a:pPr>
            <a:r>
              <a:rPr lang="en-US" sz="3399">
                <a:solidFill>
                  <a:srgbClr val="000000"/>
                </a:solidFill>
                <a:latin typeface="Calibri (MS)"/>
                <a:ea typeface="Calibri (MS)"/>
                <a:cs typeface="Calibri (MS)"/>
                <a:sym typeface="Calibri (MS)"/>
              </a:rPr>
              <a:t>• Creates a more personal and proactive learning experience</a:t>
            </a:r>
          </a:p>
          <a:p>
            <a:pPr algn="l">
              <a:lnSpc>
                <a:spcPts val="4079"/>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525" y="-9525"/>
            <a:ext cx="18307050" cy="147066"/>
            <a:chOff x="0" y="0"/>
            <a:chExt cx="24409400" cy="196088"/>
          </a:xfrm>
        </p:grpSpPr>
        <p:sp>
          <p:nvSpPr>
            <p:cNvPr name="Freeform 3" id="3"/>
            <p:cNvSpPr/>
            <p:nvPr/>
          </p:nvSpPr>
          <p:spPr>
            <a:xfrm flipH="false" flipV="false" rot="0">
              <a:off x="0" y="0"/>
              <a:ext cx="24409400" cy="196088"/>
            </a:xfrm>
            <a:custGeom>
              <a:avLst/>
              <a:gdLst/>
              <a:ahLst/>
              <a:cxnLst/>
              <a:rect r="r" b="b" t="t" l="l"/>
              <a:pathLst>
                <a:path h="196088" w="24409400">
                  <a:moveTo>
                    <a:pt x="0" y="0"/>
                  </a:moveTo>
                  <a:lnTo>
                    <a:pt x="24409400" y="0"/>
                  </a:lnTo>
                  <a:lnTo>
                    <a:pt x="24409400" y="196088"/>
                  </a:lnTo>
                  <a:lnTo>
                    <a:pt x="0" y="196088"/>
                  </a:lnTo>
                  <a:close/>
                </a:path>
              </a:pathLst>
            </a:custGeom>
            <a:solidFill>
              <a:srgbClr val="00B4D8"/>
            </a:solidFill>
            <a:ln w="19050" cap="sq">
              <a:solidFill>
                <a:srgbClr val="00B4D8"/>
              </a:solidFill>
              <a:prstDash val="solid"/>
              <a:miter/>
            </a:ln>
          </p:spPr>
        </p:sp>
      </p:grpSp>
      <p:grpSp>
        <p:nvGrpSpPr>
          <p:cNvPr name="Group 4" id="4"/>
          <p:cNvGrpSpPr/>
          <p:nvPr/>
        </p:nvGrpSpPr>
        <p:grpSpPr>
          <a:xfrm rot="0">
            <a:off x="904875" y="319659"/>
            <a:ext cx="2945130" cy="531114"/>
            <a:chOff x="0" y="0"/>
            <a:chExt cx="3926840" cy="708152"/>
          </a:xfrm>
        </p:grpSpPr>
        <p:sp>
          <p:nvSpPr>
            <p:cNvPr name="Freeform 5" id="5"/>
            <p:cNvSpPr/>
            <p:nvPr/>
          </p:nvSpPr>
          <p:spPr>
            <a:xfrm flipH="false" flipV="false" rot="0">
              <a:off x="0" y="0"/>
              <a:ext cx="3926840" cy="708152"/>
            </a:xfrm>
            <a:custGeom>
              <a:avLst/>
              <a:gdLst/>
              <a:ahLst/>
              <a:cxnLst/>
              <a:rect r="r" b="b" t="t" l="l"/>
              <a:pathLst>
                <a:path h="708152" w="3926840">
                  <a:moveTo>
                    <a:pt x="0" y="0"/>
                  </a:moveTo>
                  <a:lnTo>
                    <a:pt x="3926840" y="0"/>
                  </a:lnTo>
                  <a:lnTo>
                    <a:pt x="3926840" y="708152"/>
                  </a:lnTo>
                  <a:lnTo>
                    <a:pt x="0" y="708152"/>
                  </a:lnTo>
                  <a:close/>
                </a:path>
              </a:pathLst>
            </a:custGeom>
            <a:solidFill>
              <a:srgbClr val="0077A8"/>
            </a:solidFill>
            <a:ln w="19050" cap="sq">
              <a:solidFill>
                <a:srgbClr val="0077A8"/>
              </a:solidFill>
              <a:prstDash val="solid"/>
              <a:miter/>
            </a:ln>
          </p:spPr>
        </p:sp>
      </p:grpSp>
      <p:grpSp>
        <p:nvGrpSpPr>
          <p:cNvPr name="Group 6" id="6"/>
          <p:cNvGrpSpPr/>
          <p:nvPr/>
        </p:nvGrpSpPr>
        <p:grpSpPr>
          <a:xfrm rot="0">
            <a:off x="914400" y="329184"/>
            <a:ext cx="2926080" cy="512064"/>
            <a:chOff x="0" y="0"/>
            <a:chExt cx="3901440" cy="682752"/>
          </a:xfrm>
        </p:grpSpPr>
        <p:sp>
          <p:nvSpPr>
            <p:cNvPr name="Freeform 7" id="7"/>
            <p:cNvSpPr/>
            <p:nvPr/>
          </p:nvSpPr>
          <p:spPr>
            <a:xfrm flipH="false" flipV="false" rot="0">
              <a:off x="0" y="0"/>
              <a:ext cx="3901440" cy="682752"/>
            </a:xfrm>
            <a:custGeom>
              <a:avLst/>
              <a:gdLst/>
              <a:ahLst/>
              <a:cxnLst/>
              <a:rect r="r" b="b" t="t" l="l"/>
              <a:pathLst>
                <a:path h="682752" w="3901440">
                  <a:moveTo>
                    <a:pt x="0" y="0"/>
                  </a:moveTo>
                  <a:lnTo>
                    <a:pt x="3901440" y="0"/>
                  </a:lnTo>
                  <a:lnTo>
                    <a:pt x="3901440" y="682752"/>
                  </a:lnTo>
                  <a:lnTo>
                    <a:pt x="0" y="682752"/>
                  </a:lnTo>
                  <a:close/>
                </a:path>
              </a:pathLst>
            </a:custGeom>
            <a:blipFill>
              <a:blip r:embed="rId2">
                <a:alphaModFix amt="0"/>
              </a:blip>
              <a:stretch>
                <a:fillRect l="0" t="-61343" r="0" b="-61343"/>
              </a:stretch>
            </a:blipFill>
          </p:spPr>
        </p:sp>
        <p:sp>
          <p:nvSpPr>
            <p:cNvPr name="TextBox 8" id="8"/>
            <p:cNvSpPr txBox="true"/>
            <p:nvPr/>
          </p:nvSpPr>
          <p:spPr>
            <a:xfrm>
              <a:off x="0" y="-38100"/>
              <a:ext cx="3901440" cy="720852"/>
            </a:xfrm>
            <a:prstGeom prst="rect">
              <a:avLst/>
            </a:prstGeom>
          </p:spPr>
          <p:txBody>
            <a:bodyPr anchor="ctr" rtlCol="false" tIns="0" lIns="0" bIns="0" rIns="0"/>
            <a:lstStyle/>
            <a:p>
              <a:pPr algn="ctr">
                <a:lnSpc>
                  <a:spcPts val="1800"/>
                </a:lnSpc>
              </a:pPr>
              <a:r>
                <a:rPr lang="en-US" sz="1500" b="true">
                  <a:solidFill>
                    <a:srgbClr val="FFFFFF"/>
                  </a:solidFill>
                  <a:latin typeface="Calibri (MS) Bold"/>
                  <a:ea typeface="Calibri (MS) Bold"/>
                  <a:cs typeface="Calibri (MS) Bold"/>
                  <a:sym typeface="Calibri (MS) Bold"/>
                </a:rPr>
                <a:t>Idea</a:t>
              </a:r>
            </a:p>
          </p:txBody>
        </p:sp>
      </p:grpSp>
      <p:grpSp>
        <p:nvGrpSpPr>
          <p:cNvPr name="Group 9" id="9"/>
          <p:cNvGrpSpPr/>
          <p:nvPr/>
        </p:nvGrpSpPr>
        <p:grpSpPr>
          <a:xfrm rot="0">
            <a:off x="914400" y="1005840"/>
            <a:ext cx="16459200" cy="1280160"/>
            <a:chOff x="0" y="0"/>
            <a:chExt cx="21945600" cy="1706880"/>
          </a:xfrm>
        </p:grpSpPr>
        <p:sp>
          <p:nvSpPr>
            <p:cNvPr name="Freeform 10" id="10"/>
            <p:cNvSpPr/>
            <p:nvPr/>
          </p:nvSpPr>
          <p:spPr>
            <a:xfrm flipH="false" flipV="false" rot="0">
              <a:off x="0" y="0"/>
              <a:ext cx="21945600" cy="1706880"/>
            </a:xfrm>
            <a:custGeom>
              <a:avLst/>
              <a:gdLst/>
              <a:ahLst/>
              <a:cxnLst/>
              <a:rect r="r" b="b" t="t" l="l"/>
              <a:pathLst>
                <a:path h="1706880" w="21945600">
                  <a:moveTo>
                    <a:pt x="0" y="0"/>
                  </a:moveTo>
                  <a:lnTo>
                    <a:pt x="21945600" y="0"/>
                  </a:lnTo>
                  <a:lnTo>
                    <a:pt x="21945600" y="1706880"/>
                  </a:lnTo>
                  <a:lnTo>
                    <a:pt x="0" y="1706880"/>
                  </a:lnTo>
                  <a:close/>
                </a:path>
              </a:pathLst>
            </a:custGeom>
            <a:blipFill>
              <a:blip r:embed="rId2">
                <a:alphaModFix amt="0"/>
              </a:blip>
              <a:stretch>
                <a:fillRect l="0" t="-200521" r="0" b="-200521"/>
              </a:stretch>
            </a:blipFill>
          </p:spPr>
        </p:sp>
        <p:sp>
          <p:nvSpPr>
            <p:cNvPr name="TextBox 11" id="11"/>
            <p:cNvSpPr txBox="true"/>
            <p:nvPr/>
          </p:nvSpPr>
          <p:spPr>
            <a:xfrm>
              <a:off x="0" y="-123825"/>
              <a:ext cx="21945600" cy="1830705"/>
            </a:xfrm>
            <a:prstGeom prst="rect">
              <a:avLst/>
            </a:prstGeom>
          </p:spPr>
          <p:txBody>
            <a:bodyPr anchor="ctr" rtlCol="false" tIns="0" lIns="0" bIns="0" rIns="0"/>
            <a:lstStyle/>
            <a:p>
              <a:pPr algn="l">
                <a:lnSpc>
                  <a:spcPts val="7680"/>
                </a:lnSpc>
              </a:pPr>
              <a:r>
                <a:rPr lang="en-US" sz="6400" b="true">
                  <a:solidFill>
                    <a:srgbClr val="000000"/>
                  </a:solidFill>
                  <a:latin typeface="Calibri (MS) Bold"/>
                  <a:ea typeface="Calibri (MS) Bold"/>
                  <a:cs typeface="Calibri (MS) Bold"/>
                  <a:sym typeface="Calibri (MS) Bold"/>
                </a:rPr>
                <a:t>Differentiation</a:t>
              </a:r>
            </a:p>
          </p:txBody>
        </p:sp>
      </p:grpSp>
      <p:sp>
        <p:nvSpPr>
          <p:cNvPr name="TextBox 12" id="12"/>
          <p:cNvSpPr txBox="true"/>
          <p:nvPr/>
        </p:nvSpPr>
        <p:spPr>
          <a:xfrm rot="0">
            <a:off x="1028700" y="2835042"/>
            <a:ext cx="13551236" cy="5133975"/>
          </a:xfrm>
          <a:prstGeom prst="rect">
            <a:avLst/>
          </a:prstGeom>
        </p:spPr>
        <p:txBody>
          <a:bodyPr anchor="t" rtlCol="false" tIns="0" lIns="0" bIns="0" rIns="0">
            <a:spAutoFit/>
          </a:bodyPr>
          <a:lstStyle/>
          <a:p>
            <a:pPr algn="l">
              <a:lnSpc>
                <a:spcPts val="4439"/>
              </a:lnSpc>
            </a:pPr>
            <a:r>
              <a:rPr lang="en-US" sz="3699">
                <a:solidFill>
                  <a:srgbClr val="000000"/>
                </a:solidFill>
                <a:latin typeface="Calibri (MS)"/>
                <a:ea typeface="Calibri (MS)"/>
                <a:cs typeface="Calibri (MS)"/>
                <a:sym typeface="Calibri (MS)"/>
              </a:rPr>
              <a:t>What Makes Cue Different</a:t>
            </a:r>
          </a:p>
          <a:p>
            <a:pPr algn="l">
              <a:lnSpc>
                <a:spcPts val="4439"/>
              </a:lnSpc>
            </a:pPr>
            <a:r>
              <a:rPr lang="en-US" sz="3699">
                <a:solidFill>
                  <a:srgbClr val="000000"/>
                </a:solidFill>
                <a:latin typeface="Calibri (MS)"/>
                <a:ea typeface="Calibri (MS)"/>
                <a:cs typeface="Calibri (MS)"/>
                <a:sym typeface="Calibri (MS)"/>
              </a:rPr>
              <a:t>• Lives inside WhatsApp — no separate app needed</a:t>
            </a:r>
          </a:p>
          <a:p>
            <a:pPr algn="l">
              <a:lnSpc>
                <a:spcPts val="4439"/>
              </a:lnSpc>
            </a:pPr>
            <a:r>
              <a:rPr lang="en-US" sz="3699">
                <a:solidFill>
                  <a:srgbClr val="000000"/>
                </a:solidFill>
                <a:latin typeface="Calibri (MS)"/>
                <a:ea typeface="Calibri (MS)"/>
                <a:cs typeface="Calibri (MS)"/>
                <a:sym typeface="Calibri (MS)"/>
              </a:rPr>
              <a:t>• Proactive AI that reaches out before users ask</a:t>
            </a:r>
          </a:p>
          <a:p>
            <a:pPr algn="l">
              <a:lnSpc>
                <a:spcPts val="4439"/>
              </a:lnSpc>
            </a:pPr>
            <a:r>
              <a:rPr lang="en-US" sz="3699">
                <a:solidFill>
                  <a:srgbClr val="000000"/>
                </a:solidFill>
                <a:latin typeface="Calibri (MS)"/>
                <a:ea typeface="Calibri (MS)"/>
                <a:cs typeface="Calibri (MS)"/>
                <a:sym typeface="Calibri (MS)"/>
              </a:rPr>
              <a:t>• Personalized interaction based on student behavior and routine</a:t>
            </a:r>
          </a:p>
          <a:p>
            <a:pPr algn="l">
              <a:lnSpc>
                <a:spcPts val="4439"/>
              </a:lnSpc>
            </a:pPr>
            <a:r>
              <a:rPr lang="en-US" sz="3699">
                <a:solidFill>
                  <a:srgbClr val="000000"/>
                </a:solidFill>
                <a:latin typeface="Calibri (MS)"/>
                <a:ea typeface="Calibri (MS)"/>
                <a:cs typeface="Calibri (MS)"/>
                <a:sym typeface="Calibri (MS)"/>
              </a:rPr>
              <a:t>• Combines study planning, reminders, and motivation in one system</a:t>
            </a:r>
          </a:p>
          <a:p>
            <a:pPr algn="l">
              <a:lnSpc>
                <a:spcPts val="4439"/>
              </a:lnSpc>
            </a:pPr>
            <a:r>
              <a:rPr lang="en-US" sz="3699">
                <a:solidFill>
                  <a:srgbClr val="000000"/>
                </a:solidFill>
                <a:latin typeface="Calibri (MS)"/>
                <a:ea typeface="Calibri (MS)"/>
                <a:cs typeface="Calibri (MS)"/>
                <a:sym typeface="Calibri (MS)"/>
              </a:rPr>
              <a:t>Strong Moat</a:t>
            </a:r>
          </a:p>
          <a:p>
            <a:pPr algn="l">
              <a:lnSpc>
                <a:spcPts val="4439"/>
              </a:lnSpc>
            </a:pPr>
            <a:r>
              <a:rPr lang="en-US" sz="3699">
                <a:solidFill>
                  <a:srgbClr val="000000"/>
                </a:solidFill>
                <a:latin typeface="Calibri (MS)"/>
                <a:ea typeface="Calibri (MS)"/>
                <a:cs typeface="Calibri (MS)"/>
                <a:sym typeface="Calibri (MS)"/>
              </a:rPr>
              <a:t>• Familiar messaging-based experience increases daily usage</a:t>
            </a:r>
          </a:p>
          <a:p>
            <a:pPr algn="l">
              <a:lnSpc>
                <a:spcPts val="4439"/>
              </a:lnSpc>
            </a:pPr>
            <a:r>
              <a:rPr lang="en-US" sz="3699">
                <a:solidFill>
                  <a:srgbClr val="000000"/>
                </a:solidFill>
                <a:latin typeface="Calibri (MS)"/>
                <a:ea typeface="Calibri (MS)"/>
                <a:cs typeface="Calibri (MS)"/>
                <a:sym typeface="Calibri (MS)"/>
              </a:rPr>
              <a:t>• Local-first AI workflow allows deeper personalization and flexibility</a:t>
            </a:r>
          </a:p>
          <a:p>
            <a:pPr algn="l">
              <a:lnSpc>
                <a:spcPts val="4439"/>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525" y="-9525"/>
            <a:ext cx="18307050" cy="147066"/>
            <a:chOff x="0" y="0"/>
            <a:chExt cx="24409400" cy="196088"/>
          </a:xfrm>
        </p:grpSpPr>
        <p:sp>
          <p:nvSpPr>
            <p:cNvPr name="Freeform 3" id="3"/>
            <p:cNvSpPr/>
            <p:nvPr/>
          </p:nvSpPr>
          <p:spPr>
            <a:xfrm flipH="false" flipV="false" rot="0">
              <a:off x="0" y="0"/>
              <a:ext cx="24409400" cy="196088"/>
            </a:xfrm>
            <a:custGeom>
              <a:avLst/>
              <a:gdLst/>
              <a:ahLst/>
              <a:cxnLst/>
              <a:rect r="r" b="b" t="t" l="l"/>
              <a:pathLst>
                <a:path h="196088" w="24409400">
                  <a:moveTo>
                    <a:pt x="0" y="0"/>
                  </a:moveTo>
                  <a:lnTo>
                    <a:pt x="24409400" y="0"/>
                  </a:lnTo>
                  <a:lnTo>
                    <a:pt x="24409400" y="196088"/>
                  </a:lnTo>
                  <a:lnTo>
                    <a:pt x="0" y="196088"/>
                  </a:lnTo>
                  <a:close/>
                </a:path>
              </a:pathLst>
            </a:custGeom>
            <a:solidFill>
              <a:srgbClr val="00B4D8"/>
            </a:solidFill>
            <a:ln w="19050" cap="sq">
              <a:solidFill>
                <a:srgbClr val="00B4D8"/>
              </a:solidFill>
              <a:prstDash val="solid"/>
              <a:miter/>
            </a:ln>
          </p:spPr>
        </p:sp>
      </p:grpSp>
      <p:grpSp>
        <p:nvGrpSpPr>
          <p:cNvPr name="Group 4" id="4"/>
          <p:cNvGrpSpPr/>
          <p:nvPr/>
        </p:nvGrpSpPr>
        <p:grpSpPr>
          <a:xfrm rot="0">
            <a:off x="904875" y="319659"/>
            <a:ext cx="2945130" cy="531114"/>
            <a:chOff x="0" y="0"/>
            <a:chExt cx="3926840" cy="708152"/>
          </a:xfrm>
        </p:grpSpPr>
        <p:sp>
          <p:nvSpPr>
            <p:cNvPr name="Freeform 5" id="5"/>
            <p:cNvSpPr/>
            <p:nvPr/>
          </p:nvSpPr>
          <p:spPr>
            <a:xfrm flipH="false" flipV="false" rot="0">
              <a:off x="0" y="0"/>
              <a:ext cx="3926840" cy="708152"/>
            </a:xfrm>
            <a:custGeom>
              <a:avLst/>
              <a:gdLst/>
              <a:ahLst/>
              <a:cxnLst/>
              <a:rect r="r" b="b" t="t" l="l"/>
              <a:pathLst>
                <a:path h="708152" w="3926840">
                  <a:moveTo>
                    <a:pt x="0" y="0"/>
                  </a:moveTo>
                  <a:lnTo>
                    <a:pt x="3926840" y="0"/>
                  </a:lnTo>
                  <a:lnTo>
                    <a:pt x="3926840" y="708152"/>
                  </a:lnTo>
                  <a:lnTo>
                    <a:pt x="0" y="708152"/>
                  </a:lnTo>
                  <a:close/>
                </a:path>
              </a:pathLst>
            </a:custGeom>
            <a:solidFill>
              <a:srgbClr val="0077A8"/>
            </a:solidFill>
            <a:ln w="19050" cap="sq">
              <a:solidFill>
                <a:srgbClr val="0077A8"/>
              </a:solidFill>
              <a:prstDash val="solid"/>
              <a:miter/>
            </a:ln>
          </p:spPr>
        </p:sp>
      </p:grpSp>
      <p:grpSp>
        <p:nvGrpSpPr>
          <p:cNvPr name="Group 6" id="6"/>
          <p:cNvGrpSpPr/>
          <p:nvPr/>
        </p:nvGrpSpPr>
        <p:grpSpPr>
          <a:xfrm rot="0">
            <a:off x="914400" y="329184"/>
            <a:ext cx="2926080" cy="512064"/>
            <a:chOff x="0" y="0"/>
            <a:chExt cx="3901440" cy="682752"/>
          </a:xfrm>
        </p:grpSpPr>
        <p:sp>
          <p:nvSpPr>
            <p:cNvPr name="Freeform 7" id="7"/>
            <p:cNvSpPr/>
            <p:nvPr/>
          </p:nvSpPr>
          <p:spPr>
            <a:xfrm flipH="false" flipV="false" rot="0">
              <a:off x="0" y="0"/>
              <a:ext cx="3901440" cy="682752"/>
            </a:xfrm>
            <a:custGeom>
              <a:avLst/>
              <a:gdLst/>
              <a:ahLst/>
              <a:cxnLst/>
              <a:rect r="r" b="b" t="t" l="l"/>
              <a:pathLst>
                <a:path h="682752" w="3901440">
                  <a:moveTo>
                    <a:pt x="0" y="0"/>
                  </a:moveTo>
                  <a:lnTo>
                    <a:pt x="3901440" y="0"/>
                  </a:lnTo>
                  <a:lnTo>
                    <a:pt x="3901440" y="682752"/>
                  </a:lnTo>
                  <a:lnTo>
                    <a:pt x="0" y="682752"/>
                  </a:lnTo>
                  <a:close/>
                </a:path>
              </a:pathLst>
            </a:custGeom>
            <a:blipFill>
              <a:blip r:embed="rId2">
                <a:alphaModFix amt="0"/>
              </a:blip>
              <a:stretch>
                <a:fillRect l="0" t="-61343" r="0" b="-61343"/>
              </a:stretch>
            </a:blipFill>
          </p:spPr>
        </p:sp>
        <p:sp>
          <p:nvSpPr>
            <p:cNvPr name="TextBox 8" id="8"/>
            <p:cNvSpPr txBox="true"/>
            <p:nvPr/>
          </p:nvSpPr>
          <p:spPr>
            <a:xfrm>
              <a:off x="0" y="-38100"/>
              <a:ext cx="3901440" cy="720852"/>
            </a:xfrm>
            <a:prstGeom prst="rect">
              <a:avLst/>
            </a:prstGeom>
          </p:spPr>
          <p:txBody>
            <a:bodyPr anchor="ctr" rtlCol="false" tIns="0" lIns="0" bIns="0" rIns="0"/>
            <a:lstStyle/>
            <a:p>
              <a:pPr algn="ctr">
                <a:lnSpc>
                  <a:spcPts val="1800"/>
                </a:lnSpc>
              </a:pPr>
              <a:r>
                <a:rPr lang="en-US" sz="1500" b="true">
                  <a:solidFill>
                    <a:srgbClr val="FFFFFF"/>
                  </a:solidFill>
                  <a:latin typeface="Calibri (MS) Bold"/>
                  <a:ea typeface="Calibri (MS) Bold"/>
                  <a:cs typeface="Calibri (MS) Bold"/>
                  <a:sym typeface="Calibri (MS) Bold"/>
                </a:rPr>
                <a:t>Idea</a:t>
              </a:r>
            </a:p>
          </p:txBody>
        </p:sp>
      </p:grpSp>
      <p:grpSp>
        <p:nvGrpSpPr>
          <p:cNvPr name="Group 9" id="9"/>
          <p:cNvGrpSpPr/>
          <p:nvPr/>
        </p:nvGrpSpPr>
        <p:grpSpPr>
          <a:xfrm rot="0">
            <a:off x="914400" y="1005840"/>
            <a:ext cx="16459200" cy="1280160"/>
            <a:chOff x="0" y="0"/>
            <a:chExt cx="21945600" cy="1706880"/>
          </a:xfrm>
        </p:grpSpPr>
        <p:sp>
          <p:nvSpPr>
            <p:cNvPr name="Freeform 10" id="10"/>
            <p:cNvSpPr/>
            <p:nvPr/>
          </p:nvSpPr>
          <p:spPr>
            <a:xfrm flipH="false" flipV="false" rot="0">
              <a:off x="0" y="0"/>
              <a:ext cx="21945600" cy="1706880"/>
            </a:xfrm>
            <a:custGeom>
              <a:avLst/>
              <a:gdLst/>
              <a:ahLst/>
              <a:cxnLst/>
              <a:rect r="r" b="b" t="t" l="l"/>
              <a:pathLst>
                <a:path h="1706880" w="21945600">
                  <a:moveTo>
                    <a:pt x="0" y="0"/>
                  </a:moveTo>
                  <a:lnTo>
                    <a:pt x="21945600" y="0"/>
                  </a:lnTo>
                  <a:lnTo>
                    <a:pt x="21945600" y="1706880"/>
                  </a:lnTo>
                  <a:lnTo>
                    <a:pt x="0" y="1706880"/>
                  </a:lnTo>
                  <a:close/>
                </a:path>
              </a:pathLst>
            </a:custGeom>
            <a:blipFill>
              <a:blip r:embed="rId2">
                <a:alphaModFix amt="0"/>
              </a:blip>
              <a:stretch>
                <a:fillRect l="0" t="-200521" r="0" b="-200521"/>
              </a:stretch>
            </a:blipFill>
          </p:spPr>
        </p:sp>
        <p:sp>
          <p:nvSpPr>
            <p:cNvPr name="TextBox 11" id="11"/>
            <p:cNvSpPr txBox="true"/>
            <p:nvPr/>
          </p:nvSpPr>
          <p:spPr>
            <a:xfrm>
              <a:off x="0" y="-123825"/>
              <a:ext cx="21945600" cy="1830705"/>
            </a:xfrm>
            <a:prstGeom prst="rect">
              <a:avLst/>
            </a:prstGeom>
          </p:spPr>
          <p:txBody>
            <a:bodyPr anchor="ctr" rtlCol="false" tIns="0" lIns="0" bIns="0" rIns="0"/>
            <a:lstStyle/>
            <a:p>
              <a:pPr algn="l">
                <a:lnSpc>
                  <a:spcPts val="7680"/>
                </a:lnSpc>
              </a:pPr>
              <a:r>
                <a:rPr lang="en-US" sz="6400" b="true">
                  <a:solidFill>
                    <a:srgbClr val="000000"/>
                  </a:solidFill>
                  <a:latin typeface="Calibri (MS) Bold"/>
                  <a:ea typeface="Calibri (MS) Bold"/>
                  <a:cs typeface="Calibri (MS) Bold"/>
                  <a:sym typeface="Calibri (MS) Bold"/>
                </a:rPr>
                <a:t>Demo Link</a:t>
              </a:r>
            </a:p>
          </p:txBody>
        </p:sp>
      </p:grpSp>
      <p:sp>
        <p:nvSpPr>
          <p:cNvPr name="TextBox 12" id="12"/>
          <p:cNvSpPr txBox="true"/>
          <p:nvPr/>
        </p:nvSpPr>
        <p:spPr>
          <a:xfrm rot="0">
            <a:off x="1028700" y="3057525"/>
            <a:ext cx="14793946" cy="3060760"/>
          </a:xfrm>
          <a:prstGeom prst="rect">
            <a:avLst/>
          </a:prstGeom>
        </p:spPr>
        <p:txBody>
          <a:bodyPr anchor="t" rtlCol="false" tIns="0" lIns="0" bIns="0" rIns="0">
            <a:spAutoFit/>
          </a:bodyPr>
          <a:lstStyle/>
          <a:p>
            <a:pPr algn="l">
              <a:lnSpc>
                <a:spcPts val="5864"/>
              </a:lnSpc>
            </a:pPr>
            <a:r>
              <a:rPr lang="en-US" sz="4887" u="sng">
                <a:solidFill>
                  <a:srgbClr val="000000"/>
                </a:solidFill>
                <a:latin typeface="Calibri (MS)"/>
                <a:ea typeface="Calibri (MS)"/>
                <a:cs typeface="Calibri (MS)"/>
                <a:sym typeface="Calibri (MS)"/>
                <a:hlinkClick r:id="rId3" tooltip="https://github.com/Vajreshwari-a/Cue"/>
              </a:rPr>
              <a:t>GitHub Repo</a:t>
            </a:r>
          </a:p>
          <a:p>
            <a:pPr algn="l">
              <a:lnSpc>
                <a:spcPts val="5864"/>
              </a:lnSpc>
            </a:pPr>
          </a:p>
          <a:p>
            <a:pPr algn="l">
              <a:lnSpc>
                <a:spcPts val="5864"/>
              </a:lnSpc>
            </a:pPr>
            <a:r>
              <a:rPr lang="en-US" sz="4887">
                <a:solidFill>
                  <a:srgbClr val="000000"/>
                </a:solidFill>
                <a:latin typeface="Calibri (MS)"/>
                <a:ea typeface="Calibri (MS)"/>
                <a:cs typeface="Calibri (MS)"/>
                <a:sym typeface="Calibri (MS)"/>
              </a:rPr>
              <a:t>AI CLOSURE: file:///home/vajra/CUEEE%20IMPPPP/OpenClaw_AI_Disclosure__1_.docx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DAHJFEp0QSM</dc:identifier>
  <dcterms:modified xsi:type="dcterms:W3CDTF">2011-08-01T06:04:30Z</dcterms:modified>
  <cp:revision>1</cp:revision>
  <dc:title>M S Ramaiah Institute of Technology_XYZz Cue – your studdy buddy, straight from whatsapp Vajreshwari, Shreya</dc:title>
</cp:coreProperties>
</file>